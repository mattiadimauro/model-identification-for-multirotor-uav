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8"/>
  </p:notesMasterIdLst>
  <p:sldIdLst>
    <p:sldId id="256" r:id="rId5"/>
    <p:sldId id="258" r:id="rId6"/>
    <p:sldId id="261" r:id="rId7"/>
    <p:sldId id="274" r:id="rId8"/>
    <p:sldId id="275" r:id="rId9"/>
    <p:sldId id="263" r:id="rId10"/>
    <p:sldId id="276" r:id="rId11"/>
    <p:sldId id="279" r:id="rId12"/>
    <p:sldId id="278" r:id="rId13"/>
    <p:sldId id="300" r:id="rId14"/>
    <p:sldId id="301" r:id="rId15"/>
    <p:sldId id="299" r:id="rId16"/>
    <p:sldId id="280" r:id="rId17"/>
    <p:sldId id="302" r:id="rId18"/>
    <p:sldId id="282" r:id="rId19"/>
    <p:sldId id="303" r:id="rId20"/>
    <p:sldId id="311" r:id="rId21"/>
    <p:sldId id="292" r:id="rId22"/>
    <p:sldId id="286" r:id="rId23"/>
    <p:sldId id="304" r:id="rId24"/>
    <p:sldId id="305" r:id="rId25"/>
    <p:sldId id="306" r:id="rId26"/>
    <p:sldId id="307" r:id="rId27"/>
    <p:sldId id="308" r:id="rId28"/>
    <p:sldId id="285" r:id="rId29"/>
    <p:sldId id="287" r:id="rId30"/>
    <p:sldId id="288" r:id="rId31"/>
    <p:sldId id="295" r:id="rId32"/>
    <p:sldId id="296" r:id="rId33"/>
    <p:sldId id="310" r:id="rId34"/>
    <p:sldId id="297" r:id="rId35"/>
    <p:sldId id="313" r:id="rId36"/>
    <p:sldId id="312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F1C08-74A7-4A10-9E14-01B0301A54CA}" v="23" dt="2026-03-10T23:42:42.743"/>
    <p1510:client id="{48C885A8-43A3-002D-DE8E-74BFBAAA7EE3}" v="3" dt="2026-03-10T21:09:29.990"/>
    <p1510:client id="{E2223ED7-5B01-4F36-9C8A-23B04626531E}" v="499" dt="2026-03-11T08:39:51.3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Stile chiaro 3 - Color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78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A50C0-763D-6638-36BA-F84AC76C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1F16D-7F9D-98E2-63E2-EAC0B0E1B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E876D-E83D-D518-C6A7-44FE87395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B1AAF-64A1-3B5F-244A-1D1AD8C4A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17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D7A1-682C-4141-85F6-BFB93CA9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13377-A676-0A56-10B4-A5607E821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1794C-785F-4CDC-AC22-7159AAEE1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CAFCA-65D0-24EA-9CFC-C657FE05D8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85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1D498-E149-FD60-3510-F1C63D5C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48912-5F6A-6DD5-7A87-321BF6294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7FFD1-45AB-8619-D79F-89AEF4174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5FB9A-2EFA-07B3-A6DD-8D7EE3C74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24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6B862-8ADC-6CD6-9FE6-3B62402F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1CB28-F962-576D-DA0F-F020FD19F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0CF77-54A3-20AC-27BF-63101BA8A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92D9E-6B78-311F-0329-10C329EF52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01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48716-FBBA-5CDD-9D15-845A3D7CE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124F9-DDE6-3DD5-03FD-6C57C2C80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3879B-201A-3724-7C11-4D7CDCD66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52AA8-F80F-F0FA-5AE3-76ECB2A637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81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018C0-2E8F-A0F5-6ACA-E48E11888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17E97-1187-9EDB-CD35-31A6630EA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C2C83-5228-4E2A-09D8-DC30A4A5F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10047-E10C-0A4A-55AA-7C08B53E7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06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62CA-866F-C3D2-34E4-0D0FC0E8A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6BCF1-BD35-6E2C-81BF-EE40AD2D1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1E320-B9CD-BE57-8DD2-73CA96AA8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FBB6A-2CB2-F99E-CF11-A7F5F1D45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65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F2233-FB1C-3F62-2BA4-C3B5F8B5F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39A25-4778-DC5D-97C7-198681763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E690A-DDB7-9FEE-72B9-2BD2D6EB6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9A079-FF21-B8FA-8CB1-8EB63059EC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52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DE3E5-5C59-AA8E-0905-81BBBF8C2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642D9-DE05-F620-44AA-D1FD181D6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78FB0-B8BE-77B0-2953-81FCD0A83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ED51C-2D6C-87BD-C02E-9BE193051B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0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9A586-5991-EDF2-CD11-141C1D6E8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4D9FD-0C6C-5886-9807-786271825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9A4BC-65A0-5541-10C9-A5BEC6FD7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0099B-0558-E54F-6C11-EA44ADDEB4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21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3039-12A3-FBFA-A57C-6D7F6EAA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30937-7624-CC5F-8944-E1B037873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C746D-2558-F034-CAC3-52A2DB5B3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6FDF-9B68-EF54-B304-739797829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52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9AFE9-E263-B845-681A-F412FD70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1EFB2-5947-3D67-5120-7870C58A8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C5FD8-46D6-07D4-F0C1-542157AB2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D2452-1765-E049-326A-A7E44C857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5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AA1AC-158F-8594-877C-DD52BD552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9CF8C-E237-504A-53B7-F5246F044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84B242-84E3-08FF-D018-E87F165DF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9AC9F-5994-A077-EDB0-E53D12240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699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0CF9-6A82-C6AD-BB36-92C3C0FE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E662-66C6-B2AA-17A0-8FE3306A1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A4686-68AA-B79F-63F6-27913B66F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68242-61A8-B17C-D834-5A66E3DFA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743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B3FF-1EF4-A01B-CE98-B2D950E75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BFC9D-CF12-8090-D1DA-ADCE57943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2EBC4-BDB4-EAF8-A113-9F58A7498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C16C2-47E4-60A8-C80D-55AC604D7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184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3B2D4-4490-27EF-7D4C-40803DBC4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4D9F1-38DB-5890-5986-FFCD68B67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422E4-B252-6E7D-788C-E1B6BF282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D530A-67F5-48C2-20DE-084674CE2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426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95C13-8E55-9103-83B6-0AD5A879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CD978-F4BE-7271-F0CB-19DD2F608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62CEE-8430-7EBA-92F3-87157B44E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F8A29-DB7D-9052-6156-4403270B4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142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79656-CD23-47AC-1FDA-24E63D5D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3CF4B-3B01-6186-7638-4FC8DEC6B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65B2A-99E3-28E9-D00D-2651EA946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EA15A-CA7D-7B85-DA68-48662B3DC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551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527B-4090-9BDE-3BE9-BA7F81D1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A6E4F-D02C-FB5D-8332-B3A144FDB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2D2C2-782B-8BB5-BFD1-6B6C3901E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4210B-B31D-278B-AB98-6837DB21CD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459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E6FB8-D53D-117F-6B7F-A3B42C88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C5ACD-B897-E619-4618-DB10D079F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3DD7D-D38A-445F-36A7-C266D482B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21CF9-6061-626D-B24A-7E32BD27C3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599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5A604-5EE3-B4C7-29BC-2CC7141E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61A8E-65DC-D7CA-2DED-D419F091C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D8E68-48EF-18F9-7E55-6EE883917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11DF3-AB2D-9A72-76B7-430407EE6A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900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EC2C-0D67-B85B-021F-A4D3DDD5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117EA-1C86-8EE4-401E-7B8E34F89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93CD8-4B9A-102B-E3CE-31F0476B5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6EF65-1B46-BA66-6FBD-5F232ED17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34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25198-B00A-B701-D73C-00183114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F8AF0-7974-E415-BA6E-464042239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3A278-0D7C-B55D-B2FE-7A51838B8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ECD15-9672-72E3-44EA-E6064E89EB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22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138F7-DE26-1C0B-7479-CF46B5967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60A12-6BC4-C90E-8C08-2A441D032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47851-1EAF-3453-F0B2-D20924746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EA86A-0D0E-E2DC-D5F9-93493DF91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029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86E91-9878-2B66-FD3D-8580E612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B8BA8-DF5C-2D42-5B19-0529B5653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56859-1998-46D1-C860-DDD12E09E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1D5EA-32DC-9732-DE14-A325852049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346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58FBC-A6B0-FE27-7209-693F7621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5E818-0092-2530-94C1-240BB9C6A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6BAEF-5EF1-1668-030C-61DC1762B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77636-2212-6C74-C111-4FAFE825B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44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098FB-8729-24FE-EF1D-BEF6CCD8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AD2CA-8EB3-9945-7966-3E65B7498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7CB06-4C79-3B8F-90C3-F9E7E4010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D00BB-A66F-06F2-73A8-BB8B360FC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593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B81CB-F6F6-32A0-2AED-EBCA7F949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977EE-1DEA-53AB-F914-9ED366B95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349CF-2FE0-C7D7-5B22-F7462A964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A2BD1-72E4-2B92-FE60-8A8A70F95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449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CFDEA-3FCA-CDF5-DAA0-BA92A033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A034A-2602-66E8-6CA6-C4B78D72D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3B4EE-5651-6215-9BC7-4084433E1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313E1-72DF-90FB-7236-A7384B2929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0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8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8.png"/><Relationship Id="rId7" Type="http://schemas.openxmlformats.org/officeDocument/2006/relationships/image" Target="../media/image22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40.png"/><Relationship Id="rId10" Type="http://schemas.openxmlformats.org/officeDocument/2006/relationships/image" Target="../media/image25.png"/><Relationship Id="rId4" Type="http://schemas.openxmlformats.org/officeDocument/2006/relationships/image" Target="../media/image39.png"/><Relationship Id="rId9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6.png"/><Relationship Id="rId7" Type="http://schemas.openxmlformats.org/officeDocument/2006/relationships/image" Target="../media/image22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48.png"/><Relationship Id="rId10" Type="http://schemas.openxmlformats.org/officeDocument/2006/relationships/image" Target="../media/image25.png"/><Relationship Id="rId4" Type="http://schemas.openxmlformats.org/officeDocument/2006/relationships/image" Target="../media/image47.png"/><Relationship Id="rId9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974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2633472"/>
            <a:ext cx="9144000" cy="64008"/>
          </a:xfrm>
          <a:prstGeom prst="rect">
            <a:avLst/>
          </a:prstGeom>
          <a:solidFill>
            <a:srgbClr val="1A2C55"/>
          </a:solidFill>
          <a:ln w="12700">
            <a:solidFill>
              <a:srgbClr val="1A2C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2697480"/>
            <a:ext cx="9144000" cy="24414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0040" y="27889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and Learning in Aerospace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3337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 exam project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385876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Marianna  ·  Cavalli Filippo  ·  Mattia Di Mauro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415137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Marco Lovera  </a:t>
            </a:r>
            <a:endParaRPr lang="en-US" sz="12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9F77E10E-BC02-734A-8CC5-DAD51807B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909" y="258505"/>
            <a:ext cx="2382181" cy="217379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2D937FC-A25C-D5D5-8360-D85CED927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7466428" y="4476608"/>
            <a:ext cx="1559902" cy="46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tasks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System identification of longitudinal dynamics from simulated data, using the frequency-domain grey-box method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Sensitivity analysis to perturbations in measurement noise properties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1638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Analysis of the best model in a Monte Carlo study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Linearised model for longitudinal dynamics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equation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376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equation</a:t>
            </a:r>
            <a:endParaRPr lang="en-US" sz="1400" dirty="0"/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97F0983A-49B4-B593-DE03-C21503F06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15" y="895789"/>
            <a:ext cx="4427604" cy="1318374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7DD17E76-D773-0CCB-C0B1-760A0A290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745504"/>
            <a:ext cx="4206605" cy="1219306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06AE9D13-6428-B76F-CC9A-7AD6BD825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3964" y="3439233"/>
            <a:ext cx="205758" cy="213378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E74EC9C5-47CA-A02B-3A5F-E1E37408EF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851691"/>
            <a:ext cx="4315968" cy="1422227"/>
          </a:xfrm>
          <a:prstGeom prst="rect">
            <a:avLst/>
          </a:prstGeom>
        </p:spPr>
      </p:pic>
      <p:sp>
        <p:nvSpPr>
          <p:cNvPr id="31" name="Text 7">
            <a:extLst>
              <a:ext uri="{FF2B5EF4-FFF2-40B4-BE49-F238E27FC236}">
                <a16:creationId xmlns:a16="http://schemas.microsoft.com/office/drawing/2014/main" id="{B983A146-D25C-B99B-0E43-A3DCAF180F47}"/>
              </a:ext>
            </a:extLst>
          </p:cNvPr>
          <p:cNvSpPr/>
          <p:nvPr/>
        </p:nvSpPr>
        <p:spPr>
          <a:xfrm>
            <a:off x="4793364" y="2382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14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531EBCD7-CD74-7E8F-129B-ADABA27307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6355" y="2623822"/>
            <a:ext cx="1714649" cy="1844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36E5E-BD62-6193-F6DB-19060008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C09E7E-4780-55C8-A0FC-D763EE836A4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B65ABC-35AC-A985-F9BC-CB5EBE5B5D45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Simulink Model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BFAE73-18D4-8340-3E9C-F3F1808FF239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C997B7-20A0-C6B6-3559-28238818211C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3F90D0-0144-4058-C9C3-B3154158C4BC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72B66FF4-AA2D-ED1A-2EC2-8AEEE521A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61" y="924736"/>
            <a:ext cx="8040878" cy="329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98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68B43-4C24-B2B2-B21D-B51AAA29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B2BBAB-D282-CA3B-301F-56E7D78BA423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CF667C-18AF-6B31-A295-AA2A41CFF5E2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2018BB3-B4E8-A4DB-A3D0-89EB0A091215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3ED3B6-B114-4E7C-6916-770F7C1E4407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56F097-834F-0773-DB95-6880AA78FC2A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6599F12-3075-0A5A-369E-9A70EEDCC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36" y="658958"/>
            <a:ext cx="8768015" cy="1512965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8C903F99-CF6A-14D7-B3C6-7809FF4C9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07" y="2272257"/>
            <a:ext cx="8743071" cy="1512966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C44DAA8D-AB7D-5BE2-7C35-63367BBEE165}"/>
              </a:ext>
            </a:extLst>
          </p:cNvPr>
          <p:cNvSpPr/>
          <p:nvPr/>
        </p:nvSpPr>
        <p:spPr>
          <a:xfrm>
            <a:off x="486106" y="4153465"/>
            <a:ext cx="81717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/>
              <a:t>It is necessary to </a:t>
            </a:r>
            <a:r>
              <a:rPr lang="en-US" sz="1400" b="1" dirty="0"/>
              <a:t>select a specific time interval</a:t>
            </a:r>
            <a:r>
              <a:rPr lang="en-US" sz="1400" dirty="0"/>
              <a:t> on which to perform the input–output analysis, because it is seen from the figure above that not the full time range is meaningful to be considered</a:t>
            </a:r>
          </a:p>
        </p:txBody>
      </p:sp>
    </p:spTree>
    <p:extLst>
      <p:ext uri="{BB962C8B-B14F-4D97-AF65-F5344CB8AC3E}">
        <p14:creationId xmlns:p14="http://schemas.microsoft.com/office/powerpoint/2010/main" val="2424144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063642BB-BCD5-DFE1-64C6-41848490A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36" y="687078"/>
            <a:ext cx="8310925" cy="1447433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E9262D42-367C-FD2B-277D-95A71D3491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3007" y="2236266"/>
            <a:ext cx="8274453" cy="1655663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9B9655F7-67F3-44FE-FCE6-9B487C7F1FDC}"/>
              </a:ext>
            </a:extLst>
          </p:cNvPr>
          <p:cNvSpPr/>
          <p:nvPr/>
        </p:nvSpPr>
        <p:spPr>
          <a:xfrm>
            <a:off x="577546" y="4182102"/>
            <a:ext cx="81717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/>
              <a:t>The </a:t>
            </a:r>
            <a:r>
              <a:rPr lang="en-US" sz="1400" b="1" dirty="0"/>
              <a:t>pitch rate signal</a:t>
            </a:r>
            <a:r>
              <a:rPr lang="en-US" sz="1400" dirty="0"/>
              <a:t> is cleaner than the </a:t>
            </a:r>
            <a:r>
              <a:rPr lang="en-US" sz="1400" b="1" dirty="0"/>
              <a:t>vertical acceleration signal</a:t>
            </a:r>
            <a:r>
              <a:rPr lang="en-US" sz="1400" dirty="0"/>
              <a:t>, therefore it is expected to allow a more reliable estimation of the system dynamics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D5377-558C-365D-1438-D702BBF9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001307-25DD-6ADA-E28E-AF3DC8FF4CD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29AB1D-45F9-235F-033D-7BE30D1A7F3D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Interval Selection: PSD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5F849F-D0CC-2D6A-CFC3-E71981722610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DD9E35-37C5-63D3-FC71-068C5DA51A9F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C7545E-7DAA-32B6-0BD6-07B720B62BF9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9721459-1767-E9D1-ECD2-C4FBBC260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47" y="828594"/>
            <a:ext cx="7860323" cy="1382797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C2B5CE46-324D-98A8-B306-777D5D770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684" y="2358719"/>
            <a:ext cx="6330462" cy="1107913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E1F7F58B-2DC7-ACC8-BD77-16BE6CD84AA3}"/>
              </a:ext>
            </a:extLst>
          </p:cNvPr>
          <p:cNvSpPr/>
          <p:nvPr/>
        </p:nvSpPr>
        <p:spPr>
          <a:xfrm>
            <a:off x="577545" y="3994170"/>
            <a:ext cx="81717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/>
              <a:t>The PSD is estimated using the Welch method and from the analysis, the </a:t>
            </a:r>
            <a:r>
              <a:rPr lang="en-US" sz="1400" b="1" dirty="0"/>
              <a:t>highest spectral content </a:t>
            </a:r>
            <a:r>
              <a:rPr lang="en-US" sz="1400" dirty="0"/>
              <a:t>of the input </a:t>
            </a:r>
            <a:r>
              <a:rPr lang="en-US" sz="1400" b="1" dirty="0"/>
              <a:t>is concentrated at very low frequencies</a:t>
            </a:r>
            <a:r>
              <a:rPr lang="en-US" sz="1400" dirty="0"/>
              <a:t>, approximately in the </a:t>
            </a:r>
            <a:r>
              <a:rPr lang="en-US" sz="1400" b="1" dirty="0"/>
              <a:t>0–2 Hz range</a:t>
            </a:r>
            <a:endParaRPr lang="en-US" sz="14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5626712-85BA-0557-C2D0-848B867E20AD}"/>
              </a:ext>
            </a:extLst>
          </p:cNvPr>
          <p:cNvSpPr/>
          <p:nvPr/>
        </p:nvSpPr>
        <p:spPr>
          <a:xfrm>
            <a:off x="1006641" y="923934"/>
            <a:ext cx="569742" cy="10199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5B94BF-C9E0-952F-5F69-EFF2E644013C}"/>
              </a:ext>
            </a:extLst>
          </p:cNvPr>
          <p:cNvCxnSpPr/>
          <p:nvPr/>
        </p:nvCxnSpPr>
        <p:spPr>
          <a:xfrm>
            <a:off x="1006641" y="1943841"/>
            <a:ext cx="1244991" cy="12942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CBE07EEE-152F-EC67-A812-A616E1511857}"/>
              </a:ext>
            </a:extLst>
          </p:cNvPr>
          <p:cNvCxnSpPr/>
          <p:nvPr/>
        </p:nvCxnSpPr>
        <p:spPr>
          <a:xfrm>
            <a:off x="1576383" y="923934"/>
            <a:ext cx="6738424" cy="1512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68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BED279-3770-2712-9646-A24D4B8B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39FA47-3577-583E-0AB5-5035DE2C86DC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00FD27-34C1-EF3D-D0EC-25610468EC13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Interval Selection: Coherence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06A6577-ACF9-08DF-E700-C05A1413E0EB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4CA0A9-B1FB-2182-D088-CBCF8D748854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00A7B3-1E0F-EF7B-6674-B6485607AF03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A0049A3-5970-D994-1169-E142BCC4A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18" y="2492058"/>
            <a:ext cx="6737067" cy="1176644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84135257-C4DE-466D-2F6F-D70482A42993}"/>
              </a:ext>
            </a:extLst>
          </p:cNvPr>
          <p:cNvSpPr/>
          <p:nvPr/>
        </p:nvSpPr>
        <p:spPr>
          <a:xfrm>
            <a:off x="486106" y="1926716"/>
            <a:ext cx="81717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/>
              <a:t>In the same frequency interval identified, the </a:t>
            </a:r>
            <a:r>
              <a:rPr lang="en-US" sz="1400" b="1" dirty="0"/>
              <a:t>coherence </a:t>
            </a:r>
            <a:r>
              <a:rPr lang="en-US" sz="1400" dirty="0"/>
              <a:t>shows a value </a:t>
            </a:r>
            <a:r>
              <a:rPr lang="en-US" sz="1400" b="1" dirty="0"/>
              <a:t>close to 1 for the pitch rate</a:t>
            </a:r>
            <a:r>
              <a:rPr lang="en-US" sz="1400" dirty="0"/>
              <a:t>, indicating a very strong correlation and a </a:t>
            </a:r>
            <a:r>
              <a:rPr lang="en-US" sz="1400" b="1" dirty="0"/>
              <a:t>good coherence for the acceleration signal</a:t>
            </a:r>
            <a:r>
              <a:rPr lang="en-US" sz="1400" dirty="0"/>
              <a:t>, around </a:t>
            </a:r>
            <a:r>
              <a:rPr lang="en-US" sz="1400" b="1" dirty="0"/>
              <a:t>0.8</a:t>
            </a:r>
            <a:endParaRPr lang="en-US" sz="1400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B55F21C5-8C23-BB45-3625-8F09C5A9C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686" y="3679761"/>
            <a:ext cx="5665217" cy="991998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491262F2-B6AF-1247-0DBA-6973503D9251}"/>
              </a:ext>
            </a:extLst>
          </p:cNvPr>
          <p:cNvSpPr/>
          <p:nvPr/>
        </p:nvSpPr>
        <p:spPr>
          <a:xfrm>
            <a:off x="486106" y="719103"/>
            <a:ext cx="81717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/>
              <a:t>The coherence function measures how linearly correlated an output is with an input at each frequency: it quantifies how well the input explains the output in each frequency band, using </a:t>
            </a:r>
            <a:r>
              <a:rPr lang="en-US" sz="1400" i="1" dirty="0" err="1"/>
              <a:t>mscohere</a:t>
            </a:r>
            <a:r>
              <a:rPr lang="en-US" sz="1400" dirty="0"/>
              <a:t> function 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E8E97E1-B781-7F18-CD11-C04982E11269}"/>
              </a:ext>
            </a:extLst>
          </p:cNvPr>
          <p:cNvSpPr/>
          <p:nvPr/>
        </p:nvSpPr>
        <p:spPr>
          <a:xfrm>
            <a:off x="959005" y="2571750"/>
            <a:ext cx="491844" cy="8851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3ED614CB-F220-06B2-2D1E-6FE895768853}"/>
              </a:ext>
            </a:extLst>
          </p:cNvPr>
          <p:cNvCxnSpPr>
            <a:cxnSpLocks/>
          </p:cNvCxnSpPr>
          <p:nvPr/>
        </p:nvCxnSpPr>
        <p:spPr>
          <a:xfrm>
            <a:off x="959005" y="3456940"/>
            <a:ext cx="1809595" cy="10165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1BA754BC-1D45-7787-DF62-F0304BB1FA8B}"/>
              </a:ext>
            </a:extLst>
          </p:cNvPr>
          <p:cNvCxnSpPr>
            <a:cxnSpLocks/>
          </p:cNvCxnSpPr>
          <p:nvPr/>
        </p:nvCxnSpPr>
        <p:spPr>
          <a:xfrm>
            <a:off x="1450849" y="2571750"/>
            <a:ext cx="6737067" cy="117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553EA02-EF36-26F9-63E4-19FFC1EA5520}"/>
              </a:ext>
            </a:extLst>
          </p:cNvPr>
          <p:cNvSpPr txBox="1"/>
          <p:nvPr/>
        </p:nvSpPr>
        <p:spPr>
          <a:xfrm>
            <a:off x="2412492" y="1205185"/>
            <a:ext cx="4319016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it-IT" sz="1400" b="0" i="0" dirty="0">
                <a:solidFill>
                  <a:schemeClr val="bg1">
                    <a:lumMod val="50000"/>
                  </a:schemeClr>
                </a:solidFill>
                <a:effectLst/>
              </a:rPr>
              <a:t>[</a:t>
            </a:r>
            <a:r>
              <a:rPr lang="it-IT" sz="1400" b="0" i="0" dirty="0" err="1">
                <a:solidFill>
                  <a:schemeClr val="bg1">
                    <a:lumMod val="50000"/>
                  </a:schemeClr>
                </a:solidFill>
                <a:effectLst/>
              </a:rPr>
              <a:t>coh_q,f</a:t>
            </a:r>
            <a:r>
              <a:rPr lang="it-IT" sz="1400" b="0" i="0" dirty="0">
                <a:solidFill>
                  <a:schemeClr val="bg1">
                    <a:lumMod val="50000"/>
                  </a:schemeClr>
                </a:solidFill>
                <a:effectLst/>
              </a:rPr>
              <a:t>] = </a:t>
            </a:r>
            <a:r>
              <a:rPr lang="it-IT" sz="1400" b="0" i="0" dirty="0" err="1">
                <a:solidFill>
                  <a:schemeClr val="bg1">
                    <a:lumMod val="50000"/>
                  </a:schemeClr>
                </a:solidFill>
                <a:effectLst/>
              </a:rPr>
              <a:t>mscohere</a:t>
            </a:r>
            <a:r>
              <a:rPr lang="it-IT" sz="1400" b="0" i="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it-IT" sz="1400" b="0" i="0" dirty="0" err="1">
                <a:solidFill>
                  <a:schemeClr val="bg1">
                    <a:lumMod val="50000"/>
                  </a:schemeClr>
                </a:solidFill>
                <a:effectLst/>
              </a:rPr>
              <a:t>u,yq</a:t>
            </a:r>
            <a:r>
              <a:rPr lang="it-IT" sz="1400" b="0" i="0" dirty="0">
                <a:solidFill>
                  <a:schemeClr val="bg1">
                    <a:lumMod val="50000"/>
                  </a:schemeClr>
                </a:solidFill>
                <a:effectLst/>
              </a:rPr>
              <a:t>,[],[],[],Fs);</a:t>
            </a:r>
          </a:p>
          <a:p>
            <a:pPr algn="ctr">
              <a:buNone/>
            </a:pPr>
            <a:r>
              <a:rPr lang="it-IT" sz="1400" b="0" i="0" dirty="0">
                <a:solidFill>
                  <a:schemeClr val="bg1">
                    <a:lumMod val="50000"/>
                  </a:schemeClr>
                </a:solidFill>
                <a:effectLst/>
              </a:rPr>
              <a:t>[</a:t>
            </a:r>
            <a:r>
              <a:rPr lang="it-IT" sz="1400" b="0" i="0" dirty="0" err="1">
                <a:solidFill>
                  <a:schemeClr val="bg1">
                    <a:lumMod val="50000"/>
                  </a:schemeClr>
                </a:solidFill>
                <a:effectLst/>
              </a:rPr>
              <a:t>coh_ax</a:t>
            </a:r>
            <a:r>
              <a:rPr lang="it-IT" sz="1400" b="0" i="0" dirty="0">
                <a:solidFill>
                  <a:schemeClr val="bg1">
                    <a:lumMod val="50000"/>
                  </a:schemeClr>
                </a:solidFill>
                <a:effectLst/>
              </a:rPr>
              <a:t>,~] = </a:t>
            </a:r>
            <a:r>
              <a:rPr lang="it-IT" sz="1400" b="0" i="0" dirty="0" err="1">
                <a:solidFill>
                  <a:schemeClr val="bg1">
                    <a:lumMod val="50000"/>
                  </a:schemeClr>
                </a:solidFill>
                <a:effectLst/>
              </a:rPr>
              <a:t>mscohere</a:t>
            </a:r>
            <a:r>
              <a:rPr lang="it-IT" sz="1400" b="0" i="0" dirty="0">
                <a:solidFill>
                  <a:schemeClr val="bg1">
                    <a:lumMod val="50000"/>
                  </a:schemeClr>
                </a:solidFill>
                <a:effectLst/>
              </a:rPr>
              <a:t>(</a:t>
            </a:r>
            <a:r>
              <a:rPr lang="it-IT" sz="1400" b="0" i="0" dirty="0" err="1">
                <a:solidFill>
                  <a:schemeClr val="bg1">
                    <a:lumMod val="50000"/>
                  </a:schemeClr>
                </a:solidFill>
                <a:effectLst/>
              </a:rPr>
              <a:t>u,yax</a:t>
            </a:r>
            <a:r>
              <a:rPr lang="it-IT" sz="1400" b="0" i="0" dirty="0">
                <a:solidFill>
                  <a:schemeClr val="bg1">
                    <a:lumMod val="50000"/>
                  </a:schemeClr>
                </a:solidFill>
                <a:effectLst/>
              </a:rPr>
              <a:t>,[],[],[],Fs);</a:t>
            </a:r>
          </a:p>
        </p:txBody>
      </p:sp>
    </p:spTree>
    <p:extLst>
      <p:ext uri="{BB962C8B-B14F-4D97-AF65-F5344CB8AC3E}">
        <p14:creationId xmlns:p14="http://schemas.microsoft.com/office/powerpoint/2010/main" val="3234446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10AC3-F023-6EAB-DE00-6954DCDE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A40772-E3FD-0066-92EA-F2277EC2118E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3D2C05-52BA-9E1E-E272-3AA3E68F1AE2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Interval Selection: 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DB000F8-4302-62B6-2E0E-5B257B61B298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F7A35D3-50BE-EA82-585B-FC0AEC371CFA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E354703-0834-2581-4980-03C2BCDFD801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6360AC3-FE1B-3735-CA6A-13FD5F01262E}"/>
              </a:ext>
            </a:extLst>
          </p:cNvPr>
          <p:cNvSpPr/>
          <p:nvPr/>
        </p:nvSpPr>
        <p:spPr>
          <a:xfrm>
            <a:off x="486106" y="1472997"/>
            <a:ext cx="81717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F58133A-2550-F22E-6CA5-1E501ADB4181}"/>
              </a:ext>
            </a:extLst>
          </p:cNvPr>
          <p:cNvSpPr/>
          <p:nvPr/>
        </p:nvSpPr>
        <p:spPr>
          <a:xfrm>
            <a:off x="486106" y="4272852"/>
            <a:ext cx="81717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/>
              <a:t>Considering the figure showed, </a:t>
            </a:r>
            <a:r>
              <a:rPr lang="en-US" sz="1400" b="1" dirty="0"/>
              <a:t>the selected time interval</a:t>
            </a:r>
            <a:r>
              <a:rPr lang="en-US" sz="1400" dirty="0"/>
              <a:t> for the analysis is </a:t>
            </a:r>
            <a:r>
              <a:rPr lang="en-US" sz="1400" b="1" dirty="0"/>
              <a:t>[65 99] s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9463E53-FE07-6E67-B9DC-77E258A07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594949"/>
            <a:ext cx="6729984" cy="358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48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2E223-0A9A-C77A-5EA3-C08816DC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68D0A9-C129-E2D5-1F31-BFAF8A1985EC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C56D5C-1046-A8D6-FAF2-94DA93D48526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methodology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926BC2-F56F-B0C1-F6B5-E2259AA7ABC4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5AC407E-DBD8-04C3-ACD1-ADA07B405193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E3C7EE-5962-44CF-52C9-DAA656B9A063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93BC33-3FE1-A009-1A13-783F5D3D2D62}"/>
              </a:ext>
            </a:extLst>
          </p:cNvPr>
          <p:cNvSpPr txBox="1"/>
          <p:nvPr/>
        </p:nvSpPr>
        <p:spPr>
          <a:xfrm>
            <a:off x="4112573" y="2787194"/>
            <a:ext cx="4526280" cy="160043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14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Approach: Frequency-Domain Filtering </a:t>
            </a:r>
          </a:p>
          <a:p>
            <a:pPr algn="just"/>
            <a:r>
              <a:rPr lang="en-US" sz="1400" dirty="0"/>
              <a:t>An alternative strategy consists in retaining the full dataset and applying a band-pass filter to both input and output signals prior to identification. This approach requires the selection of appropriate cut-off frequencies and filter order. The FFT of the filtered </a:t>
            </a:r>
            <a:r>
              <a:rPr lang="en-US" sz="1400" dirty="0" err="1"/>
              <a:t>iddata</a:t>
            </a:r>
            <a:r>
              <a:rPr lang="en-US" sz="1400" dirty="0"/>
              <a:t> object is then computed and provided to greyest for parameter estimation.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A58F9B-657F-8FA1-E7C5-F7840091C1A0}"/>
              </a:ext>
            </a:extLst>
          </p:cNvPr>
          <p:cNvSpPr txBox="1"/>
          <p:nvPr/>
        </p:nvSpPr>
        <p:spPr>
          <a:xfrm>
            <a:off x="684042" y="755868"/>
            <a:ext cx="4361688" cy="181588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Approach: Temporal Windowing</a:t>
            </a:r>
          </a:p>
          <a:p>
            <a:pPr algn="just"/>
            <a:r>
              <a:rPr lang="en-US" sz="1400" dirty="0"/>
              <a:t>In this work, preprocessing is performed in the time domain by selecting only the portion of the signal corresponding to the active maneuver (65–99 s), thereby removing pre- and post-maneuver segments. The FFT is then computed on the windowed dataset and used as input to greyest, without introducing an explicit filtering stage.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093EEA-E08E-3B14-7674-519C5EDE7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02" y="2787194"/>
            <a:ext cx="2578486" cy="16715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3908ABF-C719-0C8D-956F-7DE565B7C5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68" t="652" r="668" b="37002"/>
          <a:stretch>
            <a:fillRect/>
          </a:stretch>
        </p:blipFill>
        <p:spPr>
          <a:xfrm>
            <a:off x="5167650" y="950141"/>
            <a:ext cx="3237210" cy="131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05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4A92D-2E29-8807-7650-10205257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6A2DC2-69EA-2EBA-A52A-23DDC458F9C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EFA314-F468-10AA-3DC5-3233FD68E5B5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methodology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0F1759-6486-9503-F273-2C3FE6749128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CC398B-A930-88B0-0625-2DBFFD5BEDAE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9DB2A5-5E0B-9C19-87E2-43E40F62E5C3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F785E5-8ED3-A9AB-BEF5-7B1B9B3F333B}"/>
              </a:ext>
            </a:extLst>
          </p:cNvPr>
          <p:cNvSpPr txBox="1"/>
          <p:nvPr/>
        </p:nvSpPr>
        <p:spPr>
          <a:xfrm>
            <a:off x="658386" y="1017478"/>
            <a:ext cx="782722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the proposed temporal windowing approach:</a:t>
            </a:r>
            <a:br>
              <a:rPr lang="en-US" sz="14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400" i="1" dirty="0">
              <a:solidFill>
                <a:srgbClr val="2E74B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/>
              <a:t>Avoids the introduction of filter-induced artifacts</a:t>
            </a:r>
            <a:r>
              <a:rPr lang="en-US" altLang="en-US" sz="1400" dirty="0"/>
              <a:t>, such as passband ripple or residual phase distortions, which may arise even when zero-phase filtering is employed</a:t>
            </a:r>
            <a:br>
              <a:rPr lang="en-US" altLang="en-US" sz="1400" dirty="0"/>
            </a:br>
            <a:endParaRPr lang="en-US" altLang="en-US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/>
              <a:t>Eliminates</a:t>
            </a:r>
            <a:r>
              <a:rPr lang="en-US" altLang="en-US" sz="1400" dirty="0"/>
              <a:t> the need for a </a:t>
            </a:r>
            <a:r>
              <a:rPr lang="en-US" altLang="en-US" sz="1400" b="1" dirty="0"/>
              <a:t>computationally demanding filter </a:t>
            </a:r>
            <a:r>
              <a:rPr lang="en-US" altLang="en-US" sz="1400" dirty="0"/>
              <a:t>design and parameter tuning stage</a:t>
            </a:r>
            <a:br>
              <a:rPr lang="en-US" altLang="en-US" sz="1400" dirty="0"/>
            </a:br>
            <a:endParaRPr lang="en-US" altLang="en-US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Ensures that </a:t>
            </a:r>
            <a:r>
              <a:rPr lang="en-US" altLang="en-US" sz="1400" b="1" dirty="0"/>
              <a:t>the identification procedure relies exclusively on </a:t>
            </a:r>
            <a:r>
              <a:rPr lang="en-US" altLang="en-US" sz="1400" dirty="0"/>
              <a:t>physically meaningful signal segments associated with the excitation </a:t>
            </a:r>
            <a:r>
              <a:rPr lang="en-US" altLang="en-US" sz="1400" b="1" dirty="0"/>
              <a:t>maneuver</a:t>
            </a:r>
            <a:br>
              <a:rPr lang="en-US" altLang="en-US" sz="1400" b="1" dirty="0"/>
            </a:br>
            <a:endParaRPr lang="en-US" altLang="en-US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/>
              <a:t>Removes the risk</a:t>
            </a:r>
            <a:r>
              <a:rPr lang="en-US" altLang="en-US" sz="1400" dirty="0"/>
              <a:t> of </a:t>
            </a:r>
            <a:r>
              <a:rPr lang="en-US" altLang="en-US" sz="1400" b="1" dirty="0"/>
              <a:t>unintentionally attenuating relevant frequency</a:t>
            </a:r>
            <a:r>
              <a:rPr lang="en-US" altLang="en-US" sz="1400" dirty="0"/>
              <a:t> components due to a suboptimal filter design</a:t>
            </a:r>
            <a:br>
              <a:rPr lang="en-US" altLang="en-US" sz="1400" dirty="0"/>
            </a:br>
            <a:endParaRPr lang="en-US" altLang="en-US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Provides </a:t>
            </a:r>
            <a:r>
              <a:rPr lang="en-US" altLang="en-US" sz="1400" b="1" dirty="0"/>
              <a:t>a simple and effective preprocessing strategy</a:t>
            </a:r>
            <a:r>
              <a:rPr lang="en-US" altLang="en-US" sz="1400" dirty="0"/>
              <a:t> for the identification task</a:t>
            </a:r>
          </a:p>
        </p:txBody>
      </p:sp>
    </p:spTree>
    <p:extLst>
      <p:ext uri="{BB962C8B-B14F-4D97-AF65-F5344CB8AC3E}">
        <p14:creationId xmlns:p14="http://schemas.microsoft.com/office/powerpoint/2010/main" val="728031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0C485A-6965-82F0-B297-90C544EF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E08120-AA75-60DB-D038-BFED135AA54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4E3ACE-ECE1-71CE-D3F4-F05EB9977256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Grey-Box model identification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E877FF8-2A2D-6ECD-D847-EF1A91F98C93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6AA37A-2920-38B7-9752-FEC191270CD8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7A286D-852E-E50B-4FB1-4B06347C5197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A9552E34-7EA9-1E69-3588-4C79E6F2E04B}"/>
              </a:ext>
            </a:extLst>
          </p:cNvPr>
          <p:cNvSpPr/>
          <p:nvPr/>
        </p:nvSpPr>
        <p:spPr>
          <a:xfrm>
            <a:off x="411480" y="1123513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T1.1 : Identify a grey-box model for the longitudinal dynamics of the multirotor(input: total pitching moment; outputs: pitch rate and longitudinal acceleration) using the response to the sweep provided in the </a:t>
            </a:r>
            <a:r>
              <a:rPr lang="en-US" sz="135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ExcitationM.mat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</a:t>
            </a:r>
            <a:endParaRPr lang="en-US" sz="135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EBB3DEA8-9F5E-1BBB-F056-3627AD802A9C}"/>
              </a:ext>
            </a:extLst>
          </p:cNvPr>
          <p:cNvSpPr/>
          <p:nvPr/>
        </p:nvSpPr>
        <p:spPr>
          <a:xfrm>
            <a:off x="411480" y="1840965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T1.2 : Assess the uncertainty of the identified model in terms of asymptotic variance of the parameter estimates</a:t>
            </a:r>
            <a:endParaRPr lang="en-US" sz="135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B48477A8-18C6-6891-9FFE-B4C518CE0672}"/>
              </a:ext>
            </a:extLst>
          </p:cNvPr>
          <p:cNvSpPr/>
          <p:nvPr/>
        </p:nvSpPr>
        <p:spPr>
          <a:xfrm>
            <a:off x="411480" y="22994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T1.3 : Implement the following 3211 sequence and use it to validate the identified model</a:t>
            </a:r>
            <a:endParaRPr lang="en-US" sz="13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AC42410-11CB-714A-9FEA-F10CC55DB4E4}"/>
              </a:ext>
            </a:extLst>
          </p:cNvPr>
          <p:cNvSpPr/>
          <p:nvPr/>
        </p:nvSpPr>
        <p:spPr>
          <a:xfrm>
            <a:off x="182880" y="446857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simulator and the provided baseline excitation to:</a:t>
            </a:r>
            <a:endParaRPr lang="en-US" sz="13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B8E4C8-59DF-3813-58C5-B55966EBB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926" y="2758027"/>
            <a:ext cx="2394147" cy="179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39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D1D63-EB41-7562-22D9-F538CF564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C4B64F-168B-59E3-0967-8B93180FA99D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9453A9-C3D3-18E0-C1FD-5D3920DB3BAA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Identification procedure &amp; Uncertainties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B3150C1-EDA1-8D65-2240-64F1A6565037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336FBD-1126-8C2B-8B04-16961CD5BD57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C5E9FB-6118-186F-EEE5-EB9B66BDB381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D2DBF9B-BAE7-28C9-0114-AC16B0249078}"/>
              </a:ext>
            </a:extLst>
          </p:cNvPr>
          <p:cNvSpPr txBox="1"/>
          <p:nvPr/>
        </p:nvSpPr>
        <p:spPr>
          <a:xfrm>
            <a:off x="680119" y="599682"/>
            <a:ext cx="3092670" cy="40995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% Grey-Box System Identification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sys_id_model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iddata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output_model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input,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sample_time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sys_ft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fft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sys_id_model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 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init_parameters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={ 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Xu_g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', 0; 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Xq_g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', 0; 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Mu_g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', 0; </a:t>
            </a:r>
            <a:br>
              <a:rPr lang="en-US" sz="84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Mq_g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', 0; 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Xd_g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', 0; 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Md_g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’, 0 };</a:t>
            </a:r>
          </a:p>
          <a:p>
            <a:br>
              <a:rPr lang="en-US" sz="84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sys_init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idgrey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(@sys_init_creat,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init_parameters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'c');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greyest(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sys_ft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sys_init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 % Estimate parameters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cov_matrix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getcov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 % Asymptotic covariance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% Extract and reassign estimated values</a:t>
            </a: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params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getpvec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)';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Xu_g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params(1); 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Xq_g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params(2);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Mu_g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params(3); 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Mq_g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params(4);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Xd_g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params(5);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Md_g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params(6);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% Compute absolute and percentage errors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abs_errors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abs(params -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true_params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percent_errors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100 *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abs_errors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./ abs(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true_params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% Compute RMSE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rmse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sqrt(mean((params' -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true_params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).^2));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rmse_percent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sqrt(mean(percent_errors.^2));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A_grey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grey_id.A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;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B_grey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grey_id.B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; </a:t>
            </a:r>
            <a:br>
              <a:rPr lang="en-US" sz="84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C_grey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grey_id.C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;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D_grey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grey_id.D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;</a:t>
            </a:r>
            <a:br>
              <a:rPr lang="en-US" sz="840" dirty="0">
                <a:solidFill>
                  <a:schemeClr val="bg1">
                    <a:lumMod val="50000"/>
                  </a:schemeClr>
                </a:solidFill>
              </a:rPr>
            </a:br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% Identified model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grey_idsys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ss(A_grey,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B_grey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C_grey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D_grey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sample_time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grey_idtf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tf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grey_idsys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291DF-E59E-5ADA-8D02-B979D1600B1F}"/>
              </a:ext>
            </a:extLst>
          </p:cNvPr>
          <p:cNvSpPr txBox="1"/>
          <p:nvPr/>
        </p:nvSpPr>
        <p:spPr>
          <a:xfrm>
            <a:off x="4205224" y="963837"/>
            <a:ext cx="45923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The system dynamics are identified using a </a:t>
            </a:r>
            <a:r>
              <a:rPr lang="en-US" sz="1400" b="1" dirty="0"/>
              <a:t>grey-box identification approach</a:t>
            </a:r>
            <a:r>
              <a:rPr lang="en-US" sz="1400" dirty="0"/>
              <a:t>, where the structure of the model is derived from the known physics of the longitudinal dynamics, while the aerodynamic derivatives are estimated from input–output data.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187DB34-CB1C-656C-D553-6213391A8CB1}"/>
              </a:ext>
            </a:extLst>
          </p:cNvPr>
          <p:cNvSpPr/>
          <p:nvPr/>
        </p:nvSpPr>
        <p:spPr>
          <a:xfrm>
            <a:off x="4663440" y="2594305"/>
            <a:ext cx="38287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/>
              <a:t>The MATLAB greyest function is used for the identification procedure, with initial parameters:  </a:t>
            </a:r>
          </a:p>
        </p:txBody>
      </p:sp>
      <p:graphicFrame>
        <p:nvGraphicFramePr>
          <p:cNvPr id="9" name="Tabella 12">
            <a:extLst>
              <a:ext uri="{FF2B5EF4-FFF2-40B4-BE49-F238E27FC236}">
                <a16:creationId xmlns:a16="http://schemas.microsoft.com/office/drawing/2014/main" id="{7ED4F1D1-B16A-F64D-9327-A5355D7F9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908037"/>
              </p:ext>
            </p:extLst>
          </p:nvPr>
        </p:nvGraphicFramePr>
        <p:xfrm>
          <a:off x="4784759" y="3022752"/>
          <a:ext cx="348996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81660">
                  <a:extLst>
                    <a:ext uri="{9D8B030D-6E8A-4147-A177-3AD203B41FA5}">
                      <a16:colId xmlns:a16="http://schemas.microsoft.com/office/drawing/2014/main" val="415036785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87473590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1535552615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4186326119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1307378013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343284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821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73875"/>
                  </a:ext>
                </a:extLst>
              </a:tr>
            </a:tbl>
          </a:graphicData>
        </a:graphic>
      </p:graphicFrame>
      <p:pic>
        <p:nvPicPr>
          <p:cNvPr id="10" name="Immagine 15">
            <a:extLst>
              <a:ext uri="{FF2B5EF4-FFF2-40B4-BE49-F238E27FC236}">
                <a16:creationId xmlns:a16="http://schemas.microsoft.com/office/drawing/2014/main" id="{C12A0368-8E5D-A040-C878-32BD68D05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094" y="3045612"/>
            <a:ext cx="350550" cy="320068"/>
          </a:xfrm>
          <a:prstGeom prst="rect">
            <a:avLst/>
          </a:prstGeom>
        </p:spPr>
      </p:pic>
      <p:pic>
        <p:nvPicPr>
          <p:cNvPr id="14" name="Immagine 17">
            <a:extLst>
              <a:ext uri="{FF2B5EF4-FFF2-40B4-BE49-F238E27FC236}">
                <a16:creationId xmlns:a16="http://schemas.microsoft.com/office/drawing/2014/main" id="{B7145F57-05A5-5ECD-B067-0E80E500C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196" y="3060853"/>
            <a:ext cx="434378" cy="304826"/>
          </a:xfrm>
          <a:prstGeom prst="rect">
            <a:avLst/>
          </a:prstGeom>
        </p:spPr>
      </p:pic>
      <p:pic>
        <p:nvPicPr>
          <p:cNvPr id="15" name="Immagine 19">
            <a:extLst>
              <a:ext uri="{FF2B5EF4-FFF2-40B4-BE49-F238E27FC236}">
                <a16:creationId xmlns:a16="http://schemas.microsoft.com/office/drawing/2014/main" id="{22412008-7554-5690-764C-407F4A79AD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144" y="3079903"/>
            <a:ext cx="396274" cy="243861"/>
          </a:xfrm>
          <a:prstGeom prst="rect">
            <a:avLst/>
          </a:prstGeom>
        </p:spPr>
      </p:pic>
      <p:pic>
        <p:nvPicPr>
          <p:cNvPr id="17" name="Immagine 21">
            <a:extLst>
              <a:ext uri="{FF2B5EF4-FFF2-40B4-BE49-F238E27FC236}">
                <a16:creationId xmlns:a16="http://schemas.microsoft.com/office/drawing/2014/main" id="{C2548E29-0ED5-4835-4E4E-666B806D17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989" y="3079904"/>
            <a:ext cx="396274" cy="251482"/>
          </a:xfrm>
          <a:prstGeom prst="rect">
            <a:avLst/>
          </a:prstGeom>
        </p:spPr>
      </p:pic>
      <p:pic>
        <p:nvPicPr>
          <p:cNvPr id="19" name="Immagine 23">
            <a:extLst>
              <a:ext uri="{FF2B5EF4-FFF2-40B4-BE49-F238E27FC236}">
                <a16:creationId xmlns:a16="http://schemas.microsoft.com/office/drawing/2014/main" id="{2D03482B-5AB3-90C4-EAD3-5456F9D45C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1108" y="3079904"/>
            <a:ext cx="365792" cy="243861"/>
          </a:xfrm>
          <a:prstGeom prst="rect">
            <a:avLst/>
          </a:prstGeom>
        </p:spPr>
      </p:pic>
      <p:pic>
        <p:nvPicPr>
          <p:cNvPr id="21" name="Immagine 25">
            <a:extLst>
              <a:ext uri="{FF2B5EF4-FFF2-40B4-BE49-F238E27FC236}">
                <a16:creationId xmlns:a16="http://schemas.microsoft.com/office/drawing/2014/main" id="{7CD203D0-3DA2-5646-7533-2848EF7300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3170" y="3083715"/>
            <a:ext cx="350550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91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439FA-7EDB-19F7-86F5-BD8B39D20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20693B-2F2B-E54A-4666-524B58089D96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08D17C-8897-0536-4B9B-68B9362ABACC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Identification procedure &amp; Uncertainties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A7685A8-C329-3F96-5519-F5EF0D300F49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04ADD0-0748-1F07-0379-860FBC3152C5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3F58474-1754-248E-C141-FEAA4333FDB2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6E7D56E2-F800-03CF-105A-DF2E0D82478B}"/>
              </a:ext>
            </a:extLst>
          </p:cNvPr>
          <p:cNvSpPr/>
          <p:nvPr/>
        </p:nvSpPr>
        <p:spPr>
          <a:xfrm>
            <a:off x="4496562" y="1011674"/>
            <a:ext cx="4174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To assess the parameter uncertainty, the covariance matrix of the estimated parameters is computed.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The diagonal terms represent the </a:t>
            </a:r>
            <a:r>
              <a:rPr lang="en-US" sz="1400" b="1" dirty="0"/>
              <a:t>variance</a:t>
            </a:r>
            <a:r>
              <a:rPr lang="en-US" sz="1400" dirty="0"/>
              <a:t> of each parameter estimate.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ella 12">
                <a:extLst>
                  <a:ext uri="{FF2B5EF4-FFF2-40B4-BE49-F238E27FC236}">
                    <a16:creationId xmlns:a16="http://schemas.microsoft.com/office/drawing/2014/main" id="{1CF3DA04-D09E-7529-15B6-1D151FDD31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8563766"/>
                  </p:ext>
                </p:extLst>
              </p:nvPr>
            </p:nvGraphicFramePr>
            <p:xfrm>
              <a:off x="4105392" y="1837183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291342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03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07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49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0073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1328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21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ella 12">
                <a:extLst>
                  <a:ext uri="{FF2B5EF4-FFF2-40B4-BE49-F238E27FC236}">
                    <a16:creationId xmlns:a16="http://schemas.microsoft.com/office/drawing/2014/main" id="{1CF3DA04-D09E-7529-15B6-1D151FDD31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8563766"/>
                  </p:ext>
                </p:extLst>
              </p:nvPr>
            </p:nvGraphicFramePr>
            <p:xfrm>
              <a:off x="4105392" y="1837183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787" t="-98387" r="-5031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100787" t="-98387" r="-4031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199219" t="-98387" r="-3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301575" t="-98387" r="-202362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401575" t="-98387" r="-102362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501575" t="-98387" r="-2362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9" name="Immagine 15">
            <a:extLst>
              <a:ext uri="{FF2B5EF4-FFF2-40B4-BE49-F238E27FC236}">
                <a16:creationId xmlns:a16="http://schemas.microsoft.com/office/drawing/2014/main" id="{B0F1D49C-AE04-82B9-539D-B606BA9C0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835" y="1868619"/>
            <a:ext cx="350550" cy="320068"/>
          </a:xfrm>
          <a:prstGeom prst="rect">
            <a:avLst/>
          </a:prstGeom>
        </p:spPr>
      </p:pic>
      <p:pic>
        <p:nvPicPr>
          <p:cNvPr id="30" name="Immagine 17">
            <a:extLst>
              <a:ext uri="{FF2B5EF4-FFF2-40B4-BE49-F238E27FC236}">
                <a16:creationId xmlns:a16="http://schemas.microsoft.com/office/drawing/2014/main" id="{69C9FE72-12B7-F314-4C7F-D58AC8186F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404" y="1865211"/>
            <a:ext cx="434378" cy="304826"/>
          </a:xfrm>
          <a:prstGeom prst="rect">
            <a:avLst/>
          </a:prstGeom>
        </p:spPr>
      </p:pic>
      <p:pic>
        <p:nvPicPr>
          <p:cNvPr id="31" name="Immagine 19">
            <a:extLst>
              <a:ext uri="{FF2B5EF4-FFF2-40B4-BE49-F238E27FC236}">
                <a16:creationId xmlns:a16="http://schemas.microsoft.com/office/drawing/2014/main" id="{9CC8724E-7138-B9EA-67D7-0D1A156AD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4801" y="1895693"/>
            <a:ext cx="396274" cy="243861"/>
          </a:xfrm>
          <a:prstGeom prst="rect">
            <a:avLst/>
          </a:prstGeom>
        </p:spPr>
      </p:pic>
      <p:pic>
        <p:nvPicPr>
          <p:cNvPr id="32" name="Immagine 21">
            <a:extLst>
              <a:ext uri="{FF2B5EF4-FFF2-40B4-BE49-F238E27FC236}">
                <a16:creationId xmlns:a16="http://schemas.microsoft.com/office/drawing/2014/main" id="{46F33475-424F-804A-0FD8-440500D495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395" y="1904733"/>
            <a:ext cx="396274" cy="251482"/>
          </a:xfrm>
          <a:prstGeom prst="rect">
            <a:avLst/>
          </a:prstGeom>
        </p:spPr>
      </p:pic>
      <p:pic>
        <p:nvPicPr>
          <p:cNvPr id="33" name="Immagine 23">
            <a:extLst>
              <a:ext uri="{FF2B5EF4-FFF2-40B4-BE49-F238E27FC236}">
                <a16:creationId xmlns:a16="http://schemas.microsoft.com/office/drawing/2014/main" id="{F561F24B-EC6E-227D-5A8E-9C0C968ED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5688" y="1904733"/>
            <a:ext cx="365792" cy="243861"/>
          </a:xfrm>
          <a:prstGeom prst="rect">
            <a:avLst/>
          </a:prstGeom>
        </p:spPr>
      </p:pic>
      <p:pic>
        <p:nvPicPr>
          <p:cNvPr id="34" name="Immagine 25">
            <a:extLst>
              <a:ext uri="{FF2B5EF4-FFF2-40B4-BE49-F238E27FC236}">
                <a16:creationId xmlns:a16="http://schemas.microsoft.com/office/drawing/2014/main" id="{9DCA2533-8050-C3F0-6D43-3307DD22BF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480" y="1917555"/>
            <a:ext cx="350550" cy="24386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84DF973-2DE5-D284-FCC2-E1FC92D43751}"/>
              </a:ext>
            </a:extLst>
          </p:cNvPr>
          <p:cNvSpPr txBox="1"/>
          <p:nvPr/>
        </p:nvSpPr>
        <p:spPr>
          <a:xfrm>
            <a:off x="4572000" y="2770804"/>
            <a:ext cx="41807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</a:t>
            </a:r>
            <a:r>
              <a:rPr lang="en-US" sz="1400" b="1" dirty="0"/>
              <a:t>standard deviation</a:t>
            </a:r>
            <a:r>
              <a:rPr lang="en-US" sz="1400" dirty="0"/>
              <a:t> is the square root of the variance: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ella 12">
                <a:extLst>
                  <a:ext uri="{FF2B5EF4-FFF2-40B4-BE49-F238E27FC236}">
                    <a16:creationId xmlns:a16="http://schemas.microsoft.com/office/drawing/2014/main" id="{4C7B9884-1EE9-76B6-7EB5-119BCE214C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9562654"/>
                  </p:ext>
                </p:extLst>
              </p:nvPr>
            </p:nvGraphicFramePr>
            <p:xfrm>
              <a:off x="4063895" y="3392603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291342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0095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010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005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085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364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62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ella 12">
                <a:extLst>
                  <a:ext uri="{FF2B5EF4-FFF2-40B4-BE49-F238E27FC236}">
                    <a16:creationId xmlns:a16="http://schemas.microsoft.com/office/drawing/2014/main" id="{4C7B9884-1EE9-76B6-7EB5-119BCE214C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9562654"/>
                  </p:ext>
                </p:extLst>
              </p:nvPr>
            </p:nvGraphicFramePr>
            <p:xfrm>
              <a:off x="4063895" y="3392603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0"/>
                          <a:stretch>
                            <a:fillRect l="-787" t="-98387" r="-503937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0"/>
                          <a:stretch>
                            <a:fillRect l="-100000" t="-98387" r="-4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0"/>
                          <a:stretch>
                            <a:fillRect l="-201575" t="-98387" r="-3031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0"/>
                          <a:stretch>
                            <a:fillRect l="-301575" t="-98387" r="-2031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0"/>
                          <a:stretch>
                            <a:fillRect l="-398438" t="-98387" r="-101563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0"/>
                          <a:stretch>
                            <a:fillRect l="-502362" t="-98387" r="-2362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8" name="Immagine 15">
            <a:extLst>
              <a:ext uri="{FF2B5EF4-FFF2-40B4-BE49-F238E27FC236}">
                <a16:creationId xmlns:a16="http://schemas.microsoft.com/office/drawing/2014/main" id="{ACAF62C6-DDA3-6D91-A385-57DFECBD1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338" y="3401179"/>
            <a:ext cx="350550" cy="320068"/>
          </a:xfrm>
          <a:prstGeom prst="rect">
            <a:avLst/>
          </a:prstGeom>
        </p:spPr>
      </p:pic>
      <p:pic>
        <p:nvPicPr>
          <p:cNvPr id="39" name="Immagine 17">
            <a:extLst>
              <a:ext uri="{FF2B5EF4-FFF2-40B4-BE49-F238E27FC236}">
                <a16:creationId xmlns:a16="http://schemas.microsoft.com/office/drawing/2014/main" id="{4E9247F4-2F60-D910-C8ED-8A8635B5E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907" y="3420631"/>
            <a:ext cx="434378" cy="304826"/>
          </a:xfrm>
          <a:prstGeom prst="rect">
            <a:avLst/>
          </a:prstGeom>
        </p:spPr>
      </p:pic>
      <p:pic>
        <p:nvPicPr>
          <p:cNvPr id="40" name="Immagine 19">
            <a:extLst>
              <a:ext uri="{FF2B5EF4-FFF2-40B4-BE49-F238E27FC236}">
                <a16:creationId xmlns:a16="http://schemas.microsoft.com/office/drawing/2014/main" id="{ACFB7EC4-E2A8-A237-83B3-A5214B7C7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3304" y="3451113"/>
            <a:ext cx="396274" cy="243861"/>
          </a:xfrm>
          <a:prstGeom prst="rect">
            <a:avLst/>
          </a:prstGeom>
        </p:spPr>
      </p:pic>
      <p:pic>
        <p:nvPicPr>
          <p:cNvPr id="41" name="Immagine 21">
            <a:extLst>
              <a:ext uri="{FF2B5EF4-FFF2-40B4-BE49-F238E27FC236}">
                <a16:creationId xmlns:a16="http://schemas.microsoft.com/office/drawing/2014/main" id="{6C7B65FD-CC0C-049B-9A6C-92742E4A67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4898" y="3460153"/>
            <a:ext cx="396274" cy="251482"/>
          </a:xfrm>
          <a:prstGeom prst="rect">
            <a:avLst/>
          </a:prstGeom>
        </p:spPr>
      </p:pic>
      <p:pic>
        <p:nvPicPr>
          <p:cNvPr id="42" name="Immagine 23">
            <a:extLst>
              <a:ext uri="{FF2B5EF4-FFF2-40B4-BE49-F238E27FC236}">
                <a16:creationId xmlns:a16="http://schemas.microsoft.com/office/drawing/2014/main" id="{31AE788E-7D3E-8C4C-1536-8E06365560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4191" y="3460153"/>
            <a:ext cx="365792" cy="243861"/>
          </a:xfrm>
          <a:prstGeom prst="rect">
            <a:avLst/>
          </a:prstGeom>
        </p:spPr>
      </p:pic>
      <p:pic>
        <p:nvPicPr>
          <p:cNvPr id="43" name="Immagine 25">
            <a:extLst>
              <a:ext uri="{FF2B5EF4-FFF2-40B4-BE49-F238E27FC236}">
                <a16:creationId xmlns:a16="http://schemas.microsoft.com/office/drawing/2014/main" id="{C72CBECA-A11C-1E0C-A0BA-48DD97B7F1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1983" y="3472975"/>
            <a:ext cx="350550" cy="24386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74395B5-1C1B-755F-8C6F-94AFB483B614}"/>
              </a:ext>
            </a:extLst>
          </p:cNvPr>
          <p:cNvSpPr txBox="1"/>
          <p:nvPr/>
        </p:nvSpPr>
        <p:spPr>
          <a:xfrm>
            <a:off x="680119" y="599682"/>
            <a:ext cx="3092670" cy="40995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% Grey-Box System Identification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sys_id_model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iddata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output_model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input,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sample_time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sys_ft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fft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sys_id_model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 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init_parameters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={ 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Xu_g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', 0; 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Xq_g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', 0; 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Mu_g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', 0; </a:t>
            </a:r>
            <a:br>
              <a:rPr lang="en-US" sz="84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Mq_g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', 0; 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Xd_g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', 0; '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Md_g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’, 0 };</a:t>
            </a:r>
          </a:p>
          <a:p>
            <a:br>
              <a:rPr lang="en-US" sz="84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sys_init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idgrey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(@sys_init_creat,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init_parameters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'c');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greyest(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sys_ft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sys_init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 % Estimate parameters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cov_matrix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getcov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 % Asymptotic covariance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% Extract and reassign estimated values</a:t>
            </a: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params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getpvec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)';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Xu_g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params(1); 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Xq_g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params(2);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Mu_g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params(3); 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Mq_g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params(4);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Xd_g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params(5);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Md_g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params(6);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% Compute absolute and percentage errors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abs_errors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abs(params -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true_params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percent_errors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100 *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abs_errors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./ abs(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true_params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% Compute RMSE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rmse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sqrt(mean((params' -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true_params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).^2));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rmse_percent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sqrt(mean(percent_errors.^2));</a:t>
            </a:r>
          </a:p>
          <a:p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A_grey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grey_id.A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;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B_grey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grey_id.B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; </a:t>
            </a:r>
            <a:br>
              <a:rPr lang="en-US" sz="84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C_grey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grey_id.C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;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D_grey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grey_id.D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;</a:t>
            </a:r>
            <a:br>
              <a:rPr lang="en-US" sz="840" dirty="0">
                <a:solidFill>
                  <a:schemeClr val="bg1">
                    <a:lumMod val="50000"/>
                  </a:schemeClr>
                </a:solidFill>
              </a:rPr>
            </a:br>
            <a:endParaRPr lang="en-US" sz="84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% Identified model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grey_idsys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ss(A_grey,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B_grey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C_grey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D_grey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sample_time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grey_idtf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tf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840" dirty="0" err="1">
                <a:solidFill>
                  <a:schemeClr val="bg1">
                    <a:lumMod val="50000"/>
                  </a:schemeClr>
                </a:solidFill>
              </a:rPr>
              <a:t>grey_idsys</a:t>
            </a:r>
            <a:r>
              <a:rPr lang="en-US" sz="84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27748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2477C-0C59-C729-492A-584E1810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D9B962-7D86-F1DC-E3A6-CEF8AADCF8E0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0109CB-0E30-AAC0-147C-508A3FD2F762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Validation through 3211 input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D55B77A-EE73-0F0D-6CCD-6CE03DFF4CDA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C1A5C1-D3FF-7657-C6A1-71A641606C9B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7EAB5D-9BCE-218F-873E-6C72A4CB9960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8" name="CasellaDiTesto 10">
            <a:extLst>
              <a:ext uri="{FF2B5EF4-FFF2-40B4-BE49-F238E27FC236}">
                <a16:creationId xmlns:a16="http://schemas.microsoft.com/office/drawing/2014/main" id="{E62354CC-CCAB-E8A3-28D0-D136DCA56FEC}"/>
              </a:ext>
            </a:extLst>
          </p:cNvPr>
          <p:cNvSpPr txBox="1"/>
          <p:nvPr/>
        </p:nvSpPr>
        <p:spPr>
          <a:xfrm>
            <a:off x="845821" y="1217533"/>
            <a:ext cx="3375660" cy="27084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% Generate the 3211 input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amplitudes = [0, 0.1, -0.1, 0.1, -0.1, 0];</a:t>
            </a:r>
          </a:p>
          <a:p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time_step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2; % [s]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durations =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time_step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*[1, 3, 2, 1, 1, 1]; 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dt =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sample_time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; </a:t>
            </a:r>
          </a:p>
          <a:p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t_end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sum(durations);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t_3211 = 0:dt:t_end;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u_3211 = zeros(size(t_3211));</a:t>
            </a:r>
          </a:p>
          <a:p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t_start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0;</a:t>
            </a:r>
          </a:p>
          <a:p>
            <a:br>
              <a:rPr lang="en-US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1:length(amplitudes)</a:t>
            </a:r>
          </a:p>
          <a:p>
            <a:pPr lvl="1"/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t_end_segment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t_start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+ durations(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pPr lvl="1"/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idx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(t_3211 &gt;=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t_start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) &amp; (t_3211 &lt;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t_end_segment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pPr lvl="1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u_3211(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idx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) = amplitudes(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pPr lvl="1"/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t_start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t_end_segment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DC93D9-B317-9662-0D18-8A7B543BA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17955"/>
            <a:ext cx="3876787" cy="29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94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BE17-E62F-5991-8470-C3FB50BEA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5FFE76-D48B-D359-2EEC-994AEBBAA6A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EA7DBF-D51C-2D66-EDAB-1436F2B2AE0B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Validation through 3211 input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052856-EE9A-995C-F7E1-2D12282E87C9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3F04BD-282F-F01A-B946-EA332AEBD4BA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79F032-EE19-CDD3-9E67-350D0E57F3E2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4BF412A-CA73-0CA7-20D7-039016D7C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024" y="3144347"/>
            <a:ext cx="3211311" cy="1248843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C1436211-74AA-546B-30A7-BCB0D4F63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81" y="3144348"/>
            <a:ext cx="3269396" cy="1248842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DF1470B2-B2BD-F24B-9265-8BFADEA156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81914" y="638861"/>
            <a:ext cx="2803530" cy="2102648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1E5CEF9C-017A-EBC3-9523-05C12975A4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482" y="733999"/>
            <a:ext cx="3565532" cy="191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89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4B5C5-8B12-55F3-FEEC-69026CE1D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01A56C-5E90-1375-68E5-7D30F8E3EE4C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842C76-88D6-1DDD-A91B-D50D9CA3E33F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Sensitivity analysis to perturbations in measurement noise properties</a:t>
            </a:r>
            <a:endParaRPr lang="en-US" sz="2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E5907C-D597-032F-871D-5D97FB790AF2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E19366-2CB7-CB02-09A9-4F7DBEF39662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2ECCE0-F431-3192-E5EF-511E2DDACF74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9B648C4-CBE6-7AB6-76DE-C2D762F4494E}"/>
              </a:ext>
            </a:extLst>
          </p:cNvPr>
          <p:cNvSpPr/>
          <p:nvPr/>
        </p:nvSpPr>
        <p:spPr>
          <a:xfrm>
            <a:off x="457200" y="840811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T2.1 : The standard deviations of the sensors are modified as in the plot by a different tuning of the sensors mount and repeat tasks T1.1 – T1.3 for each of the two perturbed conditions:  </a:t>
            </a:r>
            <a:endParaRPr lang="en-US" sz="13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904E2A8-E195-D251-E934-7EE99E6AE99A}"/>
              </a:ext>
            </a:extLst>
          </p:cNvPr>
          <p:cNvSpPr/>
          <p:nvPr/>
        </p:nvSpPr>
        <p:spPr>
          <a:xfrm>
            <a:off x="457200" y="317664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T2.2 : Define a criterion to select the measurement setup leading to the best model and motivate the choice </a:t>
            </a:r>
            <a:endParaRPr lang="en-US" sz="135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4864C95B-EF16-4D0D-D88F-4B36FD5CE319}"/>
              </a:ext>
            </a:extLst>
          </p:cNvPr>
          <p:cNvSpPr/>
          <p:nvPr/>
        </p:nvSpPr>
        <p:spPr>
          <a:xfrm>
            <a:off x="457200" y="3635177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T2.3 : Assess the uncertainty of the best identified model in terms of asymptotic variance of the parameter estimates </a:t>
            </a:r>
            <a:endParaRPr lang="en-US" sz="1350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F7224B61-D1A6-AC61-6DEA-8DF0ACFC3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588" y="1376635"/>
            <a:ext cx="2616823" cy="180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48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D8BC4-51D1-749B-34AB-DF8D2420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E143BE-B23E-DC4C-88A3-EAA759629941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5160CA-93F4-96AD-CAE0-41B036884467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Noises Scenario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D2BB801-9C75-8430-798A-EED6884910D5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5428B0-4F8D-53EB-4C85-2C3875550A6C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2F37CB-C911-84B1-774F-343B2C8EEB09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graphicFrame>
        <p:nvGraphicFramePr>
          <p:cNvPr id="6" name="Tabella 12">
            <a:extLst>
              <a:ext uri="{FF2B5EF4-FFF2-40B4-BE49-F238E27FC236}">
                <a16:creationId xmlns:a16="http://schemas.microsoft.com/office/drawing/2014/main" id="{6851A106-3A4C-39E6-4925-25C0568B8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846478"/>
              </p:ext>
            </p:extLst>
          </p:nvPr>
        </p:nvGraphicFramePr>
        <p:xfrm>
          <a:off x="1630972" y="1175500"/>
          <a:ext cx="5882055" cy="147735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60685">
                  <a:extLst>
                    <a:ext uri="{9D8B030D-6E8A-4147-A177-3AD203B41FA5}">
                      <a16:colId xmlns:a16="http://schemas.microsoft.com/office/drawing/2014/main" val="87473590"/>
                    </a:ext>
                  </a:extLst>
                </a:gridCol>
                <a:gridCol w="1960685">
                  <a:extLst>
                    <a:ext uri="{9D8B030D-6E8A-4147-A177-3AD203B41FA5}">
                      <a16:colId xmlns:a16="http://schemas.microsoft.com/office/drawing/2014/main" val="1535552615"/>
                    </a:ext>
                  </a:extLst>
                </a:gridCol>
                <a:gridCol w="1960685">
                  <a:extLst>
                    <a:ext uri="{9D8B030D-6E8A-4147-A177-3AD203B41FA5}">
                      <a16:colId xmlns:a16="http://schemas.microsoft.com/office/drawing/2014/main" val="4186326119"/>
                    </a:ext>
                  </a:extLst>
                </a:gridCol>
              </a:tblGrid>
              <a:tr h="3224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σ</a:t>
                      </a:r>
                      <a:r>
                        <a:rPr lang="en-US" sz="1800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ax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[m/s</a:t>
                      </a:r>
                      <a:r>
                        <a:rPr lang="en-US" sz="1800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it-IT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σ</a:t>
                      </a:r>
                      <a:r>
                        <a:rPr lang="en-US" sz="1800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[deg/s]</a:t>
                      </a:r>
                      <a:endParaRPr lang="it-IT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821061"/>
                  </a:ext>
                </a:extLst>
              </a:tr>
              <a:tr h="3279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Case 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73875"/>
                  </a:ext>
                </a:extLst>
              </a:tr>
              <a:tr h="380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Case 2 (default)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559147"/>
                  </a:ext>
                </a:extLst>
              </a:tr>
              <a:tr h="3279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Case 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2188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89D6D6D-8A28-529C-3CEA-3282E5C3A97D}"/>
              </a:ext>
            </a:extLst>
          </p:cNvPr>
          <p:cNvSpPr txBox="1"/>
          <p:nvPr/>
        </p:nvSpPr>
        <p:spPr>
          <a:xfrm>
            <a:off x="910396" y="3105786"/>
            <a:ext cx="75060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The identification procedure was repeated for two alternative sensor configurations. Modifying the sensor setup changes the standard deviation of the measurement noise of the </a:t>
            </a:r>
            <a:r>
              <a:rPr lang="en-US" sz="1400" b="1" dirty="0"/>
              <a:t>accelerometer</a:t>
            </a:r>
            <a:r>
              <a:rPr lang="en-US" sz="1400" dirty="0"/>
              <a:t> and </a:t>
            </a:r>
            <a:r>
              <a:rPr lang="en-US" sz="1400" b="1" dirty="0"/>
              <a:t>gyroscope</a:t>
            </a:r>
            <a:r>
              <a:rPr lang="en-US" sz="1400" dirty="0"/>
              <a:t>, resulting in different identified models.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18301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DF4DF-3AEA-0EDB-79AE-B4B025DB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CDEA8B-BA96-4F0B-1A8A-E0C4741A370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FD2ACF-0DA2-8BDE-842F-AC05A61330C8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Case 1 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97CE27B-3969-7B8D-68DF-9664C0A51891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F0A45C-44C0-8DF1-6CDF-A74C7B3DF73B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1446BB6-FAC9-F8C0-6830-52AA424F26AF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1892AD-7657-F4E7-C783-E5A4675A0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50" y="1018128"/>
            <a:ext cx="3172742" cy="11766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8B2598-EF1B-9223-8741-FCC8D4DCF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735" y="1018128"/>
            <a:ext cx="3343615" cy="11766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5B028FC-10F0-7D7C-2C09-8ACE71764581}"/>
              </a:ext>
            </a:extLst>
          </p:cNvPr>
          <p:cNvSpPr txBox="1"/>
          <p:nvPr/>
        </p:nvSpPr>
        <p:spPr>
          <a:xfrm>
            <a:off x="182880" y="2349408"/>
            <a:ext cx="87068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The absolute difference between the response obtained with Setup 1 and the response of the baseline model identified using Setup 2 is shown below.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4248193-A9A8-6B2C-A25E-9454B3D78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250" y="3154547"/>
            <a:ext cx="2895600" cy="11262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B1BBB6D-19F3-AD8C-CD3F-86893505B3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8661" y="3080350"/>
            <a:ext cx="3038815" cy="120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733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7FD0A-504D-0EE9-DDAC-F9841C8FB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F89297-BDDB-7D9D-13BB-A8C0E5E0933E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8B16BE-1E4F-116A-119F-1193EB0AB9AF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Case 1 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AD6B58-AD96-F5AE-D7B4-3899FF2B1076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299D16-EFAF-FF6B-1DB7-EFAA2F61C5A9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6BEDE-271E-CE7D-8EC6-E1FCEDCDBAB3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FD768-EB57-14AC-C40C-6AA6DB744B23}"/>
              </a:ext>
            </a:extLst>
          </p:cNvPr>
          <p:cNvSpPr txBox="1"/>
          <p:nvPr/>
        </p:nvSpPr>
        <p:spPr>
          <a:xfrm>
            <a:off x="412214" y="608857"/>
            <a:ext cx="45786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The validation using the 3-2-1-1 maneuver is repeated for the identified model obtained under Noise Setup 1.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E0EE81-4898-095C-1FD6-531038CD0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037" y="1238014"/>
            <a:ext cx="2039572" cy="15296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AD3077-CA12-475C-84FB-09580D4AE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673" y="2935364"/>
            <a:ext cx="2243947" cy="168296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83BF91C4-14A6-655F-9C9E-276D77E9879E}"/>
              </a:ext>
            </a:extLst>
          </p:cNvPr>
          <p:cNvSpPr/>
          <p:nvPr/>
        </p:nvSpPr>
        <p:spPr>
          <a:xfrm>
            <a:off x="4423684" y="1467318"/>
            <a:ext cx="4174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/>
              <a:t>The </a:t>
            </a:r>
            <a:r>
              <a:rPr lang="en-US" sz="1400" b="1" dirty="0"/>
              <a:t>variance</a:t>
            </a:r>
            <a:r>
              <a:rPr lang="en-US" sz="1400" dirty="0"/>
              <a:t> of each parameter estimate: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ella 12">
                <a:extLst>
                  <a:ext uri="{FF2B5EF4-FFF2-40B4-BE49-F238E27FC236}">
                    <a16:creationId xmlns:a16="http://schemas.microsoft.com/office/drawing/2014/main" id="{C916766A-8E67-F871-66FC-53DFC92380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3227542"/>
                  </p:ext>
                </p:extLst>
              </p:nvPr>
            </p:nvGraphicFramePr>
            <p:xfrm>
              <a:off x="4187128" y="1840759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291342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5.75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5.70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2.48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0.0073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9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</m:t>
                              </m:r>
                            </m:oMath>
                          </a14:m>
                          <a:r>
                            <a:rPr lang="it-IT" sz="9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0692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9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21.</m:t>
                              </m:r>
                            </m:oMath>
                          </a14:m>
                          <a:r>
                            <a:rPr lang="it-IT" sz="9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ella 12">
                <a:extLst>
                  <a:ext uri="{FF2B5EF4-FFF2-40B4-BE49-F238E27FC236}">
                    <a16:creationId xmlns:a16="http://schemas.microsoft.com/office/drawing/2014/main" id="{C916766A-8E67-F871-66FC-53DFC92380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3227542"/>
                  </p:ext>
                </p:extLst>
              </p:nvPr>
            </p:nvGraphicFramePr>
            <p:xfrm>
              <a:off x="4187128" y="1840759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787" t="-98387" r="-503937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98387" r="-400000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201575" t="-98387" r="-303150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301575" t="-98387" r="-203150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398438" t="-98387" r="-101563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502362" t="-98387" r="-2362" b="-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8" name="Immagine 15">
            <a:extLst>
              <a:ext uri="{FF2B5EF4-FFF2-40B4-BE49-F238E27FC236}">
                <a16:creationId xmlns:a16="http://schemas.microsoft.com/office/drawing/2014/main" id="{9193ABB2-C76C-F897-8BCF-1B40C5CAE3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5571" y="1872195"/>
            <a:ext cx="350550" cy="320068"/>
          </a:xfrm>
          <a:prstGeom prst="rect">
            <a:avLst/>
          </a:prstGeom>
        </p:spPr>
      </p:pic>
      <p:pic>
        <p:nvPicPr>
          <p:cNvPr id="19" name="Immagine 17">
            <a:extLst>
              <a:ext uri="{FF2B5EF4-FFF2-40B4-BE49-F238E27FC236}">
                <a16:creationId xmlns:a16="http://schemas.microsoft.com/office/drawing/2014/main" id="{B0882D7A-4D63-3B12-4EDA-F5A52F6366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140" y="1868787"/>
            <a:ext cx="434378" cy="304826"/>
          </a:xfrm>
          <a:prstGeom prst="rect">
            <a:avLst/>
          </a:prstGeom>
        </p:spPr>
      </p:pic>
      <p:pic>
        <p:nvPicPr>
          <p:cNvPr id="22" name="Immagine 19">
            <a:extLst>
              <a:ext uri="{FF2B5EF4-FFF2-40B4-BE49-F238E27FC236}">
                <a16:creationId xmlns:a16="http://schemas.microsoft.com/office/drawing/2014/main" id="{016E94EB-B56C-136D-6E50-BB897DD426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6537" y="1899269"/>
            <a:ext cx="396274" cy="243861"/>
          </a:xfrm>
          <a:prstGeom prst="rect">
            <a:avLst/>
          </a:prstGeom>
        </p:spPr>
      </p:pic>
      <p:pic>
        <p:nvPicPr>
          <p:cNvPr id="24" name="Immagine 21">
            <a:extLst>
              <a:ext uri="{FF2B5EF4-FFF2-40B4-BE49-F238E27FC236}">
                <a16:creationId xmlns:a16="http://schemas.microsoft.com/office/drawing/2014/main" id="{7EC621CD-D77D-D5A7-CCAA-EB3387B5C8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8131" y="1908309"/>
            <a:ext cx="396274" cy="251482"/>
          </a:xfrm>
          <a:prstGeom prst="rect">
            <a:avLst/>
          </a:prstGeom>
        </p:spPr>
      </p:pic>
      <p:pic>
        <p:nvPicPr>
          <p:cNvPr id="25" name="Immagine 23">
            <a:extLst>
              <a:ext uri="{FF2B5EF4-FFF2-40B4-BE49-F238E27FC236}">
                <a16:creationId xmlns:a16="http://schemas.microsoft.com/office/drawing/2014/main" id="{098C4F10-C980-82EE-4B4D-1C441DB295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7424" y="1908309"/>
            <a:ext cx="365792" cy="243861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D4A673B1-A91C-A104-CCBE-D896A3F9C3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5216" y="1921131"/>
            <a:ext cx="350550" cy="24386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E785633-2848-397A-466F-F2B69827CDD7}"/>
              </a:ext>
            </a:extLst>
          </p:cNvPr>
          <p:cNvSpPr txBox="1"/>
          <p:nvPr/>
        </p:nvSpPr>
        <p:spPr>
          <a:xfrm>
            <a:off x="4385571" y="2964717"/>
            <a:ext cx="4180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The </a:t>
            </a:r>
            <a:r>
              <a:rPr lang="en-US" sz="1400" b="1" dirty="0"/>
              <a:t>standard deviation: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ella 12">
                <a:extLst>
                  <a:ext uri="{FF2B5EF4-FFF2-40B4-BE49-F238E27FC236}">
                    <a16:creationId xmlns:a16="http://schemas.microsoft.com/office/drawing/2014/main" id="{747B0069-8CA7-DC52-71F7-7BF93DCF39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6268612"/>
                  </p:ext>
                </p:extLst>
              </p:nvPr>
            </p:nvGraphicFramePr>
            <p:xfrm>
              <a:off x="4187128" y="3346779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291342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0.0076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9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0.00</m:t>
                              </m:r>
                            </m:oMath>
                          </a14:m>
                          <a:r>
                            <a:rPr lang="it-IT" sz="9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0.005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0.085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9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</m:t>
                              </m:r>
                            </m:oMath>
                          </a14:m>
                          <a:r>
                            <a:rPr lang="it-IT" sz="9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4.63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ella 12">
                <a:extLst>
                  <a:ext uri="{FF2B5EF4-FFF2-40B4-BE49-F238E27FC236}">
                    <a16:creationId xmlns:a16="http://schemas.microsoft.com/office/drawing/2014/main" id="{747B0069-8CA7-DC52-71F7-7BF93DCF39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6268612"/>
                  </p:ext>
                </p:extLst>
              </p:nvPr>
            </p:nvGraphicFramePr>
            <p:xfrm>
              <a:off x="4187128" y="3346779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2"/>
                          <a:stretch>
                            <a:fillRect l="-787" t="-100000" r="-503937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2"/>
                          <a:stretch>
                            <a:fillRect l="-100000" t="-100000" r="-4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2"/>
                          <a:stretch>
                            <a:fillRect l="-201575" t="-100000" r="-3031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2"/>
                          <a:stretch>
                            <a:fillRect l="-301575" t="-100000" r="-2031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2"/>
                          <a:stretch>
                            <a:fillRect l="-398438" t="-100000" r="-101563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2"/>
                          <a:stretch>
                            <a:fillRect l="-502362" t="-100000" r="-2362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9" name="Immagine 15">
            <a:extLst>
              <a:ext uri="{FF2B5EF4-FFF2-40B4-BE49-F238E27FC236}">
                <a16:creationId xmlns:a16="http://schemas.microsoft.com/office/drawing/2014/main" id="{BD0B2BFA-57EB-5D5C-9D49-40D9B2B87D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5571" y="3378215"/>
            <a:ext cx="350550" cy="320068"/>
          </a:xfrm>
          <a:prstGeom prst="rect">
            <a:avLst/>
          </a:prstGeom>
        </p:spPr>
      </p:pic>
      <p:pic>
        <p:nvPicPr>
          <p:cNvPr id="30" name="Immagine 17">
            <a:extLst>
              <a:ext uri="{FF2B5EF4-FFF2-40B4-BE49-F238E27FC236}">
                <a16:creationId xmlns:a16="http://schemas.microsoft.com/office/drawing/2014/main" id="{F68605FA-BD99-A7AA-D692-C90B15ED48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140" y="3374807"/>
            <a:ext cx="434378" cy="304826"/>
          </a:xfrm>
          <a:prstGeom prst="rect">
            <a:avLst/>
          </a:prstGeom>
        </p:spPr>
      </p:pic>
      <p:pic>
        <p:nvPicPr>
          <p:cNvPr id="31" name="Immagine 19">
            <a:extLst>
              <a:ext uri="{FF2B5EF4-FFF2-40B4-BE49-F238E27FC236}">
                <a16:creationId xmlns:a16="http://schemas.microsoft.com/office/drawing/2014/main" id="{77C105DC-67FA-D09F-B70F-EED51FC3D6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6537" y="3405289"/>
            <a:ext cx="396274" cy="243861"/>
          </a:xfrm>
          <a:prstGeom prst="rect">
            <a:avLst/>
          </a:prstGeom>
        </p:spPr>
      </p:pic>
      <p:pic>
        <p:nvPicPr>
          <p:cNvPr id="32" name="Immagine 21">
            <a:extLst>
              <a:ext uri="{FF2B5EF4-FFF2-40B4-BE49-F238E27FC236}">
                <a16:creationId xmlns:a16="http://schemas.microsoft.com/office/drawing/2014/main" id="{34C5B3BF-1D22-203D-E127-2F88011877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8131" y="3414329"/>
            <a:ext cx="396274" cy="251482"/>
          </a:xfrm>
          <a:prstGeom prst="rect">
            <a:avLst/>
          </a:prstGeom>
        </p:spPr>
      </p:pic>
      <p:pic>
        <p:nvPicPr>
          <p:cNvPr id="33" name="Immagine 23">
            <a:extLst>
              <a:ext uri="{FF2B5EF4-FFF2-40B4-BE49-F238E27FC236}">
                <a16:creationId xmlns:a16="http://schemas.microsoft.com/office/drawing/2014/main" id="{907AE0A5-7487-E45E-55A7-3C30D3FCD1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7424" y="3414329"/>
            <a:ext cx="365792" cy="243861"/>
          </a:xfrm>
          <a:prstGeom prst="rect">
            <a:avLst/>
          </a:prstGeom>
        </p:spPr>
      </p:pic>
      <p:pic>
        <p:nvPicPr>
          <p:cNvPr id="34" name="Immagine 25">
            <a:extLst>
              <a:ext uri="{FF2B5EF4-FFF2-40B4-BE49-F238E27FC236}">
                <a16:creationId xmlns:a16="http://schemas.microsoft.com/office/drawing/2014/main" id="{E9192F39-EBFA-23F7-41F5-47A1E1A578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5216" y="3427151"/>
            <a:ext cx="350550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16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294E0-6EE8-47DF-48BC-3D60ACA6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58FF04-AD5C-E22A-7F45-0F3B384F4AF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05051E-7499-D97A-8F58-16BBA60F3983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Case 3 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7CE1D46-3E1B-EFBE-9157-516A69E4F5BE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13380F-90CA-98AC-4F0A-82BB5AFD5982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4EA8DB-F314-D91C-AA44-36D95A156624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757F5C-17DC-1084-45D9-F521A1FEB3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3503" y="1117097"/>
            <a:ext cx="2941320" cy="10908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F5F68D-8B3D-6189-A8C5-92217C0D30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56345" y="1117097"/>
            <a:ext cx="3008334" cy="10586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85C403B-1D3C-9D92-F425-CFB312E020D9}"/>
              </a:ext>
            </a:extLst>
          </p:cNvPr>
          <p:cNvSpPr txBox="1"/>
          <p:nvPr/>
        </p:nvSpPr>
        <p:spPr>
          <a:xfrm>
            <a:off x="228600" y="2330388"/>
            <a:ext cx="87068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The absolute difference between the response obtained with Setup 3 and the response of the baseline model identified using Setup 2 is shown below.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4B067A-E5F3-85CA-A55C-5AA58A6F00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24339" y="3106591"/>
            <a:ext cx="2764446" cy="10752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EC485A-564E-C5EF-259B-67455B3CB8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56345" y="3089767"/>
            <a:ext cx="2764446" cy="109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64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BCCA-9FA8-8B8A-4963-5DDC281D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B07E20-F85A-733A-1FC2-0C8CC9A7402B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44F0DA-E4D1-1E7F-EF50-5446F5DF6015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Case 3 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27B0E7-8C7B-F5C7-96CE-8939D0AB2385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B1E154-8E41-F1CF-D904-AB3B1B3DEF13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01AC33B-D223-1FF6-F993-D7AF1808ACED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6DCA90-5A0C-C5BE-C42D-C90D33FA5097}"/>
              </a:ext>
            </a:extLst>
          </p:cNvPr>
          <p:cNvSpPr txBox="1"/>
          <p:nvPr/>
        </p:nvSpPr>
        <p:spPr>
          <a:xfrm>
            <a:off x="182880" y="601877"/>
            <a:ext cx="45786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The validation using the 3-2-1-1 maneuver is repeated for the identified model obtained under Noise Setup 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FDFDC1-D065-E47B-39C9-8BB2861467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1291" y="1139193"/>
            <a:ext cx="2302690" cy="17270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505B68-7218-9F77-CD20-7A5A314FA6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08987" y="2983486"/>
            <a:ext cx="2316985" cy="1737738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C5C43971-27EC-6959-B8D1-9AEC847D5218}"/>
              </a:ext>
            </a:extLst>
          </p:cNvPr>
          <p:cNvSpPr/>
          <p:nvPr/>
        </p:nvSpPr>
        <p:spPr>
          <a:xfrm>
            <a:off x="4196925" y="1470127"/>
            <a:ext cx="4174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/>
              <a:t>The </a:t>
            </a:r>
            <a:r>
              <a:rPr lang="en-US" sz="1400" b="1" dirty="0"/>
              <a:t>variance</a:t>
            </a:r>
            <a:r>
              <a:rPr lang="en-US" sz="1400" dirty="0"/>
              <a:t> of each parameter estimate: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ella 12">
                <a:extLst>
                  <a:ext uri="{FF2B5EF4-FFF2-40B4-BE49-F238E27FC236}">
                    <a16:creationId xmlns:a16="http://schemas.microsoft.com/office/drawing/2014/main" id="{DA76617C-B016-130E-660E-95AD0C7AC1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0017742"/>
                  </p:ext>
                </p:extLst>
              </p:nvPr>
            </p:nvGraphicFramePr>
            <p:xfrm>
              <a:off x="3991978" y="1800400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291342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1.18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1.69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2.53</m:t>
                                </m:r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9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0.0072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9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0.</m:t>
                              </m:r>
                            </m:oMath>
                          </a14:m>
                          <a:r>
                            <a:rPr lang="it-IT" sz="9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2108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9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21.</m:t>
                              </m:r>
                            </m:oMath>
                          </a14:m>
                          <a:r>
                            <a:rPr lang="it-IT" sz="9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ella 12">
                <a:extLst>
                  <a:ext uri="{FF2B5EF4-FFF2-40B4-BE49-F238E27FC236}">
                    <a16:creationId xmlns:a16="http://schemas.microsoft.com/office/drawing/2014/main" id="{DA76617C-B016-130E-660E-95AD0C7AC1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0017742"/>
                  </p:ext>
                </p:extLst>
              </p:nvPr>
            </p:nvGraphicFramePr>
            <p:xfrm>
              <a:off x="3991978" y="1800400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787" t="-98387" r="-503937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98387" r="-40000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201575" t="-98387" r="-3031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301575" t="-98387" r="-2031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398438" t="-98387" r="-101563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5"/>
                          <a:stretch>
                            <a:fillRect l="-502362" t="-98387" r="-2362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8" name="Immagine 15">
            <a:extLst>
              <a:ext uri="{FF2B5EF4-FFF2-40B4-BE49-F238E27FC236}">
                <a16:creationId xmlns:a16="http://schemas.microsoft.com/office/drawing/2014/main" id="{9DF2A139-0390-C51B-0313-38929DD69C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0421" y="1808976"/>
            <a:ext cx="350550" cy="320068"/>
          </a:xfrm>
          <a:prstGeom prst="rect">
            <a:avLst/>
          </a:prstGeom>
        </p:spPr>
      </p:pic>
      <p:pic>
        <p:nvPicPr>
          <p:cNvPr id="19" name="Immagine 17">
            <a:extLst>
              <a:ext uri="{FF2B5EF4-FFF2-40B4-BE49-F238E27FC236}">
                <a16:creationId xmlns:a16="http://schemas.microsoft.com/office/drawing/2014/main" id="{563EECC5-B233-EAB4-1470-3A2A8BFC9F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3990" y="1836048"/>
            <a:ext cx="434378" cy="304826"/>
          </a:xfrm>
          <a:prstGeom prst="rect">
            <a:avLst/>
          </a:prstGeom>
        </p:spPr>
      </p:pic>
      <p:pic>
        <p:nvPicPr>
          <p:cNvPr id="22" name="Immagine 19">
            <a:extLst>
              <a:ext uri="{FF2B5EF4-FFF2-40B4-BE49-F238E27FC236}">
                <a16:creationId xmlns:a16="http://schemas.microsoft.com/office/drawing/2014/main" id="{14D38F9E-05C9-78D5-6301-D33C1FEE6D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1387" y="1858910"/>
            <a:ext cx="396274" cy="243861"/>
          </a:xfrm>
          <a:prstGeom prst="rect">
            <a:avLst/>
          </a:prstGeom>
        </p:spPr>
      </p:pic>
      <p:pic>
        <p:nvPicPr>
          <p:cNvPr id="24" name="Immagine 21">
            <a:extLst>
              <a:ext uri="{FF2B5EF4-FFF2-40B4-BE49-F238E27FC236}">
                <a16:creationId xmlns:a16="http://schemas.microsoft.com/office/drawing/2014/main" id="{F822FDBD-E89F-40FD-8AEA-A2BDA12CD6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981" y="1867950"/>
            <a:ext cx="396274" cy="251482"/>
          </a:xfrm>
          <a:prstGeom prst="rect">
            <a:avLst/>
          </a:prstGeom>
        </p:spPr>
      </p:pic>
      <p:pic>
        <p:nvPicPr>
          <p:cNvPr id="25" name="Immagine 23">
            <a:extLst>
              <a:ext uri="{FF2B5EF4-FFF2-40B4-BE49-F238E27FC236}">
                <a16:creationId xmlns:a16="http://schemas.microsoft.com/office/drawing/2014/main" id="{0D9908BE-7074-0D39-CFE1-0EA1113ED3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2274" y="1867950"/>
            <a:ext cx="365792" cy="243861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B3975BD7-4213-0C13-9235-F88416A5C5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0066" y="1880772"/>
            <a:ext cx="350550" cy="24386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9527281-417F-EF8A-9B60-9DC92CD4CAF2}"/>
              </a:ext>
            </a:extLst>
          </p:cNvPr>
          <p:cNvSpPr txBox="1"/>
          <p:nvPr/>
        </p:nvSpPr>
        <p:spPr>
          <a:xfrm>
            <a:off x="4190421" y="2924358"/>
            <a:ext cx="41807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The </a:t>
            </a:r>
            <a:r>
              <a:rPr lang="en-US" sz="1400" b="1" dirty="0"/>
              <a:t>standard deviation: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ella 12">
                <a:extLst>
                  <a:ext uri="{FF2B5EF4-FFF2-40B4-BE49-F238E27FC236}">
                    <a16:creationId xmlns:a16="http://schemas.microsoft.com/office/drawing/2014/main" id="{C1C4EB18-472D-4137-8DCA-50C1D2C4C6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580693"/>
                  </p:ext>
                </p:extLst>
              </p:nvPr>
            </p:nvGraphicFramePr>
            <p:xfrm>
              <a:off x="3991978" y="3265910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291342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900" smtClean="0"/>
                                  <m:t>0.01086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900" dirty="0"/>
                            <a:t>0.01296</a:t>
                          </a:r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900" smtClean="0"/>
                                  <m:t>0.00503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900" smtClean="0"/>
                                  <m:t>0.08485</m:t>
                                </m:r>
                              </m:oMath>
                            </m:oMathPara>
                          </a14:m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900" dirty="0"/>
                            <a:t>0.4592</a:t>
                          </a:r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9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4.6</m:t>
                              </m:r>
                            </m:oMath>
                          </a14:m>
                          <a:r>
                            <a:rPr lang="it-IT" sz="9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ella 12">
                <a:extLst>
                  <a:ext uri="{FF2B5EF4-FFF2-40B4-BE49-F238E27FC236}">
                    <a16:creationId xmlns:a16="http://schemas.microsoft.com/office/drawing/2014/main" id="{C1C4EB18-472D-4137-8DCA-50C1D2C4C6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1580693"/>
                  </p:ext>
                </p:extLst>
              </p:nvPr>
            </p:nvGraphicFramePr>
            <p:xfrm>
              <a:off x="3991978" y="3265910"/>
              <a:ext cx="4647348" cy="737731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774558">
                      <a:extLst>
                        <a:ext uri="{9D8B030D-6E8A-4147-A177-3AD203B41FA5}">
                          <a16:colId xmlns:a16="http://schemas.microsoft.com/office/drawing/2014/main" val="41503678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87473590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535552615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4186326119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1307378013"/>
                        </a:ext>
                      </a:extLst>
                    </a:gridCol>
                    <a:gridCol w="774558">
                      <a:extLst>
                        <a:ext uri="{9D8B030D-6E8A-4147-A177-3AD203B41FA5}">
                          <a16:colId xmlns:a16="http://schemas.microsoft.com/office/drawing/2014/main" val="234328452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821061"/>
                      </a:ext>
                    </a:extLst>
                  </a:tr>
                  <a:tr h="371971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2"/>
                          <a:stretch>
                            <a:fillRect l="-787" t="-98387" r="-503937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900" dirty="0"/>
                            <a:t>0.01296</a:t>
                          </a:r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2"/>
                          <a:stretch>
                            <a:fillRect l="-201575" t="-98387" r="-3031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2"/>
                          <a:stretch>
                            <a:fillRect l="-301575" t="-98387" r="-2031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900" dirty="0"/>
                            <a:t>0.4592</a:t>
                          </a:r>
                          <a:endParaRPr lang="it-IT" sz="9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12"/>
                          <a:stretch>
                            <a:fillRect l="-502362" t="-98387" r="-2362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67387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9" name="Immagine 15">
            <a:extLst>
              <a:ext uri="{FF2B5EF4-FFF2-40B4-BE49-F238E27FC236}">
                <a16:creationId xmlns:a16="http://schemas.microsoft.com/office/drawing/2014/main" id="{2F45A475-839F-6E2E-5D49-16B6386E9C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0421" y="3297346"/>
            <a:ext cx="350550" cy="320068"/>
          </a:xfrm>
          <a:prstGeom prst="rect">
            <a:avLst/>
          </a:prstGeom>
        </p:spPr>
      </p:pic>
      <p:pic>
        <p:nvPicPr>
          <p:cNvPr id="30" name="Immagine 17">
            <a:extLst>
              <a:ext uri="{FF2B5EF4-FFF2-40B4-BE49-F238E27FC236}">
                <a16:creationId xmlns:a16="http://schemas.microsoft.com/office/drawing/2014/main" id="{F987FEF3-09F2-0D45-DF1D-A6D52E6B8D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3990" y="3293938"/>
            <a:ext cx="434378" cy="304826"/>
          </a:xfrm>
          <a:prstGeom prst="rect">
            <a:avLst/>
          </a:prstGeom>
        </p:spPr>
      </p:pic>
      <p:pic>
        <p:nvPicPr>
          <p:cNvPr id="31" name="Immagine 19">
            <a:extLst>
              <a:ext uri="{FF2B5EF4-FFF2-40B4-BE49-F238E27FC236}">
                <a16:creationId xmlns:a16="http://schemas.microsoft.com/office/drawing/2014/main" id="{74753189-54F0-A8D0-F53C-68BD636A5F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1387" y="3324420"/>
            <a:ext cx="396274" cy="243861"/>
          </a:xfrm>
          <a:prstGeom prst="rect">
            <a:avLst/>
          </a:prstGeom>
        </p:spPr>
      </p:pic>
      <p:pic>
        <p:nvPicPr>
          <p:cNvPr id="32" name="Immagine 21">
            <a:extLst>
              <a:ext uri="{FF2B5EF4-FFF2-40B4-BE49-F238E27FC236}">
                <a16:creationId xmlns:a16="http://schemas.microsoft.com/office/drawing/2014/main" id="{B1063531-CE5F-D4AF-39E6-07D0209FC1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981" y="3333460"/>
            <a:ext cx="396274" cy="251482"/>
          </a:xfrm>
          <a:prstGeom prst="rect">
            <a:avLst/>
          </a:prstGeom>
        </p:spPr>
      </p:pic>
      <p:pic>
        <p:nvPicPr>
          <p:cNvPr id="33" name="Immagine 23">
            <a:extLst>
              <a:ext uri="{FF2B5EF4-FFF2-40B4-BE49-F238E27FC236}">
                <a16:creationId xmlns:a16="http://schemas.microsoft.com/office/drawing/2014/main" id="{41801C4C-D1DC-3977-3E07-77835022EA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2274" y="3333460"/>
            <a:ext cx="365792" cy="243861"/>
          </a:xfrm>
          <a:prstGeom prst="rect">
            <a:avLst/>
          </a:prstGeom>
        </p:spPr>
      </p:pic>
      <p:pic>
        <p:nvPicPr>
          <p:cNvPr id="34" name="Immagine 25">
            <a:extLst>
              <a:ext uri="{FF2B5EF4-FFF2-40B4-BE49-F238E27FC236}">
                <a16:creationId xmlns:a16="http://schemas.microsoft.com/office/drawing/2014/main" id="{0E787A6A-3168-F7DC-EB93-B7E6F8A2E5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0066" y="3346282"/>
            <a:ext cx="350550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91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566E-2E3A-B6B2-DFA0-EDD40611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3E50F4-9340-95F5-3922-7DBEE1513EFE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5FB468-E566-9A64-644E-586DF5D51167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Comparison &amp; Selection of the best model 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D4BBE8-74C6-ABB2-EC7F-B4E9EF9CA602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0DE5B0-349E-FFB7-30EE-D5B330D605E1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AFEC639-95D5-97E4-662F-BD335E6F9A70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C6F9F8-8F28-6D84-670A-C9DD786813BB}"/>
                  </a:ext>
                </a:extLst>
              </p:cNvPr>
              <p:cNvSpPr txBox="1"/>
              <p:nvPr/>
            </p:nvSpPr>
            <p:spPr>
              <a:xfrm>
                <a:off x="548640" y="1653784"/>
                <a:ext cx="4023360" cy="1453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FIT Index:</a:t>
                </a:r>
                <a:r>
                  <a:rPr lang="en-US" sz="1400" dirty="0"/>
                  <a:t> measures the normalized closeness between the true output and the model-simulated output: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/>
                        <m:t>FIT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 sz="14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400" b="0" i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  <m:sSub>
                                <m:sSubPr>
                                  <m:ctrlPr>
                                    <a:rPr lang="ar-AE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 b="0" i="1"/>
                                    <m:t>true</m:t>
                                  </m:r>
                                </m:sub>
                              </m:sSub>
                              <m:r>
                                <a:rPr lang="ar-AE" sz="14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 b="0" i="1"/>
                                    <m:t>est</m:t>
                                  </m:r>
                                </m:sub>
                              </m:sSub>
                              <m:r>
                                <a:rPr lang="ar-AE" sz="1400" b="0" i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num>
                            <m:den>
                              <m:r>
                                <a:rPr lang="ar-AE" sz="1400" b="0" i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  <m:sSub>
                                <m:sSubPr>
                                  <m:ctrlPr>
                                    <a:rPr lang="ar-AE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 b="0" i="1"/>
                                    <m:t>true</m:t>
                                  </m:r>
                                </m:sub>
                              </m:sSub>
                              <m:r>
                                <a:rPr lang="ar-AE" sz="1400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limUpp>
                                    <m:limUppPr>
                                      <m:ctrlPr>
                                        <a:rPr lang="ar-AE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UppPr>
                                    <m:e>
                                      <m:r>
                                        <a:rPr lang="ar-AE" sz="1400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lim>
                                      <m:r>
                                        <a:rPr lang="en-US" sz="1400" b="0" i="0" smtClean="0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</m:lim>
                                  </m:limUpp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400" b="0" i="1"/>
                                    <m:t>true</m:t>
                                  </m:r>
                                </m:sub>
                              </m:sSub>
                              <m:r>
                                <a:rPr lang="ar-AE" sz="1400" b="0" i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sz="1400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ar-AE" sz="1000" b="0" dirty="0"/>
              </a:p>
              <a:p>
                <a:pPr>
                  <a:buNone/>
                </a:pPr>
                <a:r>
                  <a:rPr lang="en-US" sz="5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C6F9F8-8F28-6D84-670A-C9DD78681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653784"/>
                <a:ext cx="4023360" cy="1453539"/>
              </a:xfrm>
              <a:prstGeom prst="rect">
                <a:avLst/>
              </a:prstGeom>
              <a:blipFill>
                <a:blip r:embed="rId3"/>
                <a:stretch>
                  <a:fillRect l="-152" t="-418" r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10">
            <a:extLst>
              <a:ext uri="{FF2B5EF4-FFF2-40B4-BE49-F238E27FC236}">
                <a16:creationId xmlns:a16="http://schemas.microsoft.com/office/drawing/2014/main" id="{8E672BBE-1061-5755-AF37-192AFB7BA491}"/>
              </a:ext>
            </a:extLst>
          </p:cNvPr>
          <p:cNvSpPr txBox="1"/>
          <p:nvPr/>
        </p:nvSpPr>
        <p:spPr>
          <a:xfrm>
            <a:off x="685043" y="3374210"/>
            <a:ext cx="7956793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y=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true_output_validation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(:,1);</a:t>
            </a:r>
          </a:p>
          <a:p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y_true_mean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 = mean(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true_output_validation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(:,1));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FIT = 100 * (1 - ((norm(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true_output_validation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(:,1) -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output_validation_grey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(:,1))) / (norm(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true_output_validation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(:,1) -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y_true_mean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))));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VAF = max(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diag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(100*(eye(size(y,2))-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cov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(y-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y_est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)./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</a:rPr>
              <a:t>cov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(y))),0);</a:t>
            </a:r>
          </a:p>
          <a:p>
            <a:br>
              <a:rPr lang="en-US" sz="600" dirty="0"/>
            </a:br>
            <a:endParaRPr lang="en-US" sz="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FD58E9-F38F-5553-6F66-D8627B6D6EE8}"/>
                  </a:ext>
                </a:extLst>
              </p:cNvPr>
              <p:cNvSpPr txBox="1"/>
              <p:nvPr/>
            </p:nvSpPr>
            <p:spPr>
              <a:xfrm>
                <a:off x="4706000" y="1653784"/>
                <a:ext cx="4083577" cy="1222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VAF (Variance Accounted For):</a:t>
                </a:r>
                <a:r>
                  <a:rPr lang="en-US" sz="1400" dirty="0"/>
                  <a:t> quantifies the fraction of the output variance explained by the model: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b="0"/>
                        <m:t>VAF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ar-AE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nor/>
                                        </m:rPr>
                                        <a:rPr lang="it-IT" sz="1400" b="0" i="1" smtClean="0">
                                          <a:latin typeface="Cambria Math" panose="02040503050406030204" pitchFamily="18" charset="0"/>
                                        </a:rPr>
                                        <m:t>var</m:t>
                                      </m:r>
                                      <m:d>
                                        <m:dPr>
                                          <m:ctrlPr>
                                            <a:rPr lang="ar-AE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1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400" i="1"/>
                                                <m:t>true</m:t>
                                              </m:r>
                                            </m:sub>
                                          </m:sSub>
                                          <m:r>
                                            <a:rPr lang="ar-AE" sz="140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ar-AE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1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400" i="1"/>
                                                <m:t>est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m:rPr>
                                          <m:nor/>
                                        </m:rPr>
                                        <a:rPr lang="it-IT" sz="1400" b="0" i="1" smtClean="0">
                                          <a:latin typeface="Cambria Math" panose="02040503050406030204" pitchFamily="18" charset="0"/>
                                        </a:rPr>
                                        <m:t>var</m:t>
                                      </m:r>
                                      <m:d>
                                        <m:dPr>
                                          <m:ctrlPr>
                                            <a:rPr lang="ar-AE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1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n-US" sz="1400" i="1"/>
                                                <m:t>true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FD58E9-F38F-5553-6F66-D8627B6D6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000" y="1653784"/>
                <a:ext cx="4083577" cy="1222707"/>
              </a:xfrm>
              <a:prstGeom prst="rect">
                <a:avLst/>
              </a:prstGeom>
              <a:blipFill>
                <a:blip r:embed="rId4"/>
                <a:stretch>
                  <a:fillRect l="-299" t="-49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DF62B1A-478D-42DA-406C-0AC0672AAE9E}"/>
              </a:ext>
            </a:extLst>
          </p:cNvPr>
          <p:cNvSpPr txBox="1"/>
          <p:nvPr/>
        </p:nvSpPr>
        <p:spPr>
          <a:xfrm>
            <a:off x="575403" y="709020"/>
            <a:ext cx="81760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dirty="0"/>
              <a:t>The </a:t>
            </a:r>
            <a:r>
              <a:rPr lang="en-US" sz="1400" b="1" dirty="0"/>
              <a:t>3211 input</a:t>
            </a:r>
            <a:r>
              <a:rPr lang="en-US" sz="1400" dirty="0"/>
              <a:t> was preferred over the sine sweep for validation purposes, as its step-wise structure produces sharper and </a:t>
            </a:r>
            <a:r>
              <a:rPr lang="en-US" sz="1400" b="1" dirty="0"/>
              <a:t>more clearly interpretable transient responses in the outputs</a:t>
            </a:r>
            <a:r>
              <a:rPr lang="en-US" sz="1400" dirty="0"/>
              <a:t>, making model discrepancies more readily detectable.</a:t>
            </a:r>
          </a:p>
        </p:txBody>
      </p:sp>
    </p:spTree>
    <p:extLst>
      <p:ext uri="{BB962C8B-B14F-4D97-AF65-F5344CB8AC3E}">
        <p14:creationId xmlns:p14="http://schemas.microsoft.com/office/powerpoint/2010/main" val="3631355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26C5A-BA52-9EDE-F175-9907EF772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4647AC-D9CC-6E2D-8172-AEC09A3D5F2B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172188-7C4A-6934-C769-6AEED70F55B0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Comparison &amp; Selection of the best model 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A7720DF-750F-B0EB-32A7-ED89BDBAA31A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6F7B15-9F11-FEE1-79A7-96FBBEA52080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8B6E60-BEEC-A283-E9B4-6AFB6174012E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graphicFrame>
        <p:nvGraphicFramePr>
          <p:cNvPr id="6" name="Tabella 12">
            <a:extLst>
              <a:ext uri="{FF2B5EF4-FFF2-40B4-BE49-F238E27FC236}">
                <a16:creationId xmlns:a16="http://schemas.microsoft.com/office/drawing/2014/main" id="{10D24F99-0B27-5978-D204-A8DBC15DF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452684"/>
              </p:ext>
            </p:extLst>
          </p:nvPr>
        </p:nvGraphicFramePr>
        <p:xfrm>
          <a:off x="1722412" y="814699"/>
          <a:ext cx="5882055" cy="147735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60685">
                  <a:extLst>
                    <a:ext uri="{9D8B030D-6E8A-4147-A177-3AD203B41FA5}">
                      <a16:colId xmlns:a16="http://schemas.microsoft.com/office/drawing/2014/main" val="87473590"/>
                    </a:ext>
                  </a:extLst>
                </a:gridCol>
                <a:gridCol w="1960685">
                  <a:extLst>
                    <a:ext uri="{9D8B030D-6E8A-4147-A177-3AD203B41FA5}">
                      <a16:colId xmlns:a16="http://schemas.microsoft.com/office/drawing/2014/main" val="1535552615"/>
                    </a:ext>
                  </a:extLst>
                </a:gridCol>
                <a:gridCol w="1960685">
                  <a:extLst>
                    <a:ext uri="{9D8B030D-6E8A-4147-A177-3AD203B41FA5}">
                      <a16:colId xmlns:a16="http://schemas.microsoft.com/office/drawing/2014/main" val="4186326119"/>
                    </a:ext>
                  </a:extLst>
                </a:gridCol>
              </a:tblGrid>
              <a:tr h="3224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FIT</a:t>
                      </a:r>
                      <a:r>
                        <a:rPr lang="en-US" sz="1800" kern="1200" baseline="-25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endParaRPr lang="it-IT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VAF</a:t>
                      </a:r>
                      <a:r>
                        <a:rPr lang="en-US" sz="1800" kern="1200" baseline="-25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endParaRPr lang="it-IT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821061"/>
                  </a:ext>
                </a:extLst>
              </a:tr>
              <a:tr h="3279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Case 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99.9032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73875"/>
                  </a:ext>
                </a:extLst>
              </a:tr>
              <a:tr h="380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Case 2 (default)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98.1364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99.9653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559147"/>
                  </a:ext>
                </a:extLst>
              </a:tr>
              <a:tr h="3279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Case 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97.4887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99.9370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21885"/>
                  </a:ext>
                </a:extLst>
              </a:tr>
            </a:tbl>
          </a:graphicData>
        </a:graphic>
      </p:graphicFrame>
      <p:graphicFrame>
        <p:nvGraphicFramePr>
          <p:cNvPr id="9" name="Tabella 12">
            <a:extLst>
              <a:ext uri="{FF2B5EF4-FFF2-40B4-BE49-F238E27FC236}">
                <a16:creationId xmlns:a16="http://schemas.microsoft.com/office/drawing/2014/main" id="{DA85421F-4CB0-797D-A83A-27A4EC59E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214989"/>
              </p:ext>
            </p:extLst>
          </p:nvPr>
        </p:nvGraphicFramePr>
        <p:xfrm>
          <a:off x="1722411" y="2501356"/>
          <a:ext cx="5882055" cy="147735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60685">
                  <a:extLst>
                    <a:ext uri="{9D8B030D-6E8A-4147-A177-3AD203B41FA5}">
                      <a16:colId xmlns:a16="http://schemas.microsoft.com/office/drawing/2014/main" val="87473590"/>
                    </a:ext>
                  </a:extLst>
                </a:gridCol>
                <a:gridCol w="1960685">
                  <a:extLst>
                    <a:ext uri="{9D8B030D-6E8A-4147-A177-3AD203B41FA5}">
                      <a16:colId xmlns:a16="http://schemas.microsoft.com/office/drawing/2014/main" val="1535552615"/>
                    </a:ext>
                  </a:extLst>
                </a:gridCol>
                <a:gridCol w="1960685">
                  <a:extLst>
                    <a:ext uri="{9D8B030D-6E8A-4147-A177-3AD203B41FA5}">
                      <a16:colId xmlns:a16="http://schemas.microsoft.com/office/drawing/2014/main" val="4186326119"/>
                    </a:ext>
                  </a:extLst>
                </a:gridCol>
              </a:tblGrid>
              <a:tr h="3224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FIT</a:t>
                      </a:r>
                      <a:r>
                        <a:rPr lang="en-US" sz="1800" kern="1200" baseline="-25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ax</a:t>
                      </a:r>
                      <a:endParaRPr lang="it-IT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VAF</a:t>
                      </a:r>
                      <a:r>
                        <a:rPr lang="en-US" sz="1800" kern="1200" baseline="-25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ax</a:t>
                      </a:r>
                      <a:endParaRPr lang="it-IT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821061"/>
                  </a:ext>
                </a:extLst>
              </a:tr>
              <a:tr h="3279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Case 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71.4651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91.8627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673875"/>
                  </a:ext>
                </a:extLst>
              </a:tr>
              <a:tr h="380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Case 2 (default)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96.9919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99.9095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559147"/>
                  </a:ext>
                </a:extLst>
              </a:tr>
              <a:tr h="3279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Case 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71.216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91.7200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218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4395BD8-7D65-E6C1-2C8B-0136A23A028E}"/>
              </a:ext>
            </a:extLst>
          </p:cNvPr>
          <p:cNvSpPr txBox="1"/>
          <p:nvPr/>
        </p:nvSpPr>
        <p:spPr>
          <a:xfrm>
            <a:off x="2283759" y="4188013"/>
            <a:ext cx="4576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The best measurement set up is the </a:t>
            </a:r>
            <a:r>
              <a:rPr lang="en-US" sz="1800" b="1" dirty="0"/>
              <a:t>CASE 2</a:t>
            </a:r>
            <a:r>
              <a:rPr lang="en-US" sz="1800" dirty="0"/>
              <a:t> 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877074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C0876-1185-46F5-A35E-F75CC5A6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78DD17-D9A9-2027-ADB7-1D6D8C499C0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875250-F2D4-867F-F0FE-F469F1072377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analysis and Monte Carlo study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87D094E-60D0-393B-AC0D-B10663128CB3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012D5D-2D9F-7249-C64B-2CDFFF60EE97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3E599B6-FDB2-E91F-BADF-9EDEA78F3F9F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535F088-8D60-1B7C-EA65-C7CECFFCB22B}"/>
              </a:ext>
            </a:extLst>
          </p:cNvPr>
          <p:cNvSpPr/>
          <p:nvPr/>
        </p:nvSpPr>
        <p:spPr>
          <a:xfrm>
            <a:off x="457200" y="1337553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T3.1 : Execute T1.1 – T1.3 to identify N models for the longitudinal dynamics with the best setup for the sensors, using the </a:t>
            </a:r>
            <a:r>
              <a:rPr lang="en-US" sz="135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ExcitationM.mat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for excitation input and changing the </a:t>
            </a:r>
            <a:r>
              <a:rPr lang="en-US" sz="135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realisations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noise processes; Justify the choice of N appropriately </a:t>
            </a:r>
            <a:endParaRPr lang="en-US" sz="13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E1F65F4-2BBB-3830-A1ED-DAEE7E18AF96}"/>
              </a:ext>
            </a:extLst>
          </p:cNvPr>
          <p:cNvSpPr/>
          <p:nvPr/>
        </p:nvSpPr>
        <p:spPr>
          <a:xfrm>
            <a:off x="457200" y="285004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T3.2 : Carry out a statistical analysis of the set of identified models in terms of </a:t>
            </a:r>
            <a:r>
              <a:rPr lang="en-US" sz="135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hystograms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estimated parameters, </a:t>
            </a:r>
            <a:r>
              <a:rPr lang="en-US" sz="135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hystograms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poles and zeros, dispersion of the corresponding frequency response function 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00127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AF595-FAF1-3EC5-FCC5-589CB6FF5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BD0700-661D-71B5-D2A3-1EAA6F52BF93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166C25-6B74-B883-5AF1-775ADF577EE0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Monte Carlo setup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E86F0C-63E8-849B-F190-61394AB55329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C68DA5-4860-3A84-7C2F-D75F42B41B25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6A81FA-34B6-BCA3-07A6-69446613DB45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5624E5F-CF4F-58AD-ACE1-3392AA798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" y="538609"/>
            <a:ext cx="886968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/>
              <a:t>The </a:t>
            </a:r>
            <a:r>
              <a:rPr lang="en-US" altLang="en-US" sz="1400" b="1" dirty="0"/>
              <a:t>Monte Carlo</a:t>
            </a:r>
            <a:r>
              <a:rPr lang="en-US" altLang="en-US" sz="1400" dirty="0"/>
              <a:t> study assesses the </a:t>
            </a:r>
            <a:r>
              <a:rPr lang="en-US" altLang="en-US" sz="1400" b="1" dirty="0"/>
              <a:t>robustness</a:t>
            </a:r>
            <a:r>
              <a:rPr lang="en-US" altLang="en-US" sz="1400" dirty="0"/>
              <a:t> of the identified model with respect to different noise </a:t>
            </a:r>
            <a:r>
              <a:rPr lang="en-US" altLang="en-US" sz="1400" dirty="0" err="1"/>
              <a:t>realisations</a:t>
            </a:r>
            <a:r>
              <a:rPr lang="en-US" altLang="en-US" sz="1400" dirty="0"/>
              <a:t>, verifying that the estimated parameters remain consistent across runs.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/>
              <a:t>N=300 </a:t>
            </a:r>
            <a:r>
              <a:rPr lang="en-US" altLang="en-US" sz="1400" dirty="0"/>
              <a:t>independent identification runs are performed, each with a different noise seed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/>
              <a:t>The choice of N is justified by monitoring the </a:t>
            </a:r>
            <a:r>
              <a:rPr lang="en-US" altLang="en-US" sz="1400" b="1" dirty="0"/>
              <a:t>convergence</a:t>
            </a:r>
            <a:r>
              <a:rPr lang="en-US" altLang="en-US" sz="1400" dirty="0"/>
              <a:t> of the running mean </a:t>
            </a:r>
            <a:r>
              <a:rPr lang="en-US" altLang="en-US" sz="1400" b="1" dirty="0"/>
              <a:t>of each estimated parameter</a:t>
            </a:r>
            <a:r>
              <a:rPr lang="en-US" altLang="en-US" sz="1400" dirty="0"/>
              <a:t>, ensuring that the sample statistics are representative and stable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6F5005-7025-FF38-0181-FEDE884C0A4E}"/>
              </a:ext>
            </a:extLst>
          </p:cNvPr>
          <p:cNvSpPr txBox="1"/>
          <p:nvPr/>
        </p:nvSpPr>
        <p:spPr>
          <a:xfrm>
            <a:off x="228600" y="2186019"/>
            <a:ext cx="8869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In order to obtain a different noise </a:t>
            </a:r>
            <a:r>
              <a:rPr lang="en-US" sz="1400" dirty="0" err="1"/>
              <a:t>realisation</a:t>
            </a:r>
            <a:r>
              <a:rPr lang="en-US" sz="1400" dirty="0"/>
              <a:t> for each run, the seed value inside each Simulink white noise block is varied at every iteration</a:t>
            </a:r>
            <a:endParaRPr lang="en-US" altLang="en-US" sz="1400" dirty="0"/>
          </a:p>
        </p:txBody>
      </p:sp>
      <p:sp>
        <p:nvSpPr>
          <p:cNvPr id="10" name="CasellaDiTesto 10">
            <a:extLst>
              <a:ext uri="{FF2B5EF4-FFF2-40B4-BE49-F238E27FC236}">
                <a16:creationId xmlns:a16="http://schemas.microsoft.com/office/drawing/2014/main" id="{7C096063-3C34-E14E-B22F-AFBDDB53C8AF}"/>
              </a:ext>
            </a:extLst>
          </p:cNvPr>
          <p:cNvSpPr txBox="1"/>
          <p:nvPr/>
        </p:nvSpPr>
        <p:spPr>
          <a:xfrm>
            <a:off x="2378783" y="2756212"/>
            <a:ext cx="4386433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for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1:N </a:t>
            </a:r>
          </a:p>
          <a:p>
            <a:pPr lvl="1"/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seed.x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pPr lvl="1"/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seed.vx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+ 1;</a:t>
            </a:r>
          </a:p>
          <a:p>
            <a:pPr lvl="1"/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seed.theta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+ 2;</a:t>
            </a:r>
          </a:p>
          <a:p>
            <a:pPr lvl="1"/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seed.q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+ 3;</a:t>
            </a:r>
          </a:p>
          <a:p>
            <a:pPr lvl="1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seed.ax =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+ 3;</a:t>
            </a:r>
          </a:p>
          <a:p>
            <a:pPr lvl="1"/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load_system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('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Simulator_Single_Axis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');</a:t>
            </a:r>
          </a:p>
          <a:p>
            <a:pPr lvl="1"/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set_param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('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Simulator_Single_Axis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', "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FastRestart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", "off");</a:t>
            </a:r>
          </a:p>
          <a:p>
            <a:pPr lvl="1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simulation = sim('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Simulator_Single_Axis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', '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SrcWorkspace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', 'current’);</a:t>
            </a:r>
          </a:p>
          <a:p>
            <a:pPr lvl="1"/>
            <a:br>
              <a:rPr lang="en-US" sz="1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…….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478154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F5693-37ED-40B3-A5AF-FE88D54C6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D39F4F-3AA1-2E90-4E43-AA943B6CF3B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676794-4E56-2ACA-7EF2-40C772DEBD25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Monte Carlo convergence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5CC86FF-5426-4837-2146-C4A60CD0C4A6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3A43D2-3B58-4A16-5591-AE05E7D2453F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7A66EB3-BEE1-E61C-CC84-A50424655D74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3126AF-F9F1-73E1-BD4D-A5D059A57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75" y="616509"/>
            <a:ext cx="7054850" cy="391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2FA1E-C497-6410-E871-292A997A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86C585-5492-5271-CDA5-4624CEF25887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4807B9-C429-6775-35AA-FEDB4C317D3D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Monte Carlo parameters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30FFBD6-33C9-8D48-DC73-910525BF73A1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9187256-DF83-650F-50CC-AA2C61E79821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7F2F8F-DF50-628D-6C3A-A0109767F3D7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65CC30-4CD2-D4BE-7110-D67F578DF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34" y="558060"/>
            <a:ext cx="7375216" cy="408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46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7E7E47-712B-DFAE-7D93-7B5D77A3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BAA3D2-F916-E197-9C87-46891149A793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3A11FB-F4FF-342E-6396-0571C978C3D1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Monte Carlo poles &amp; zeros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C0F0CF-E6DE-D374-3F79-1CEBC94D7F71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DA163D-D567-2AAF-97C7-F7FFF29A81FC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E779B8-C6D6-C82E-6A9B-95EDF3B25646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CBFECA-B7FC-8231-7A4C-EB3B890BD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49" y="515391"/>
            <a:ext cx="7419701" cy="411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68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A0347-722F-358F-73E1-78FB86284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4FA04F-DE50-3382-31F9-A1D9FD831B18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916A51-A636-A76C-AB16-3C1EF72661FD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Monte Carlo poles &amp; zeros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7DE4E25-329E-5DA7-7DB1-6F34CF68E583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5AFCFA-0825-01BA-F217-F60F65D3611C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446DF9-CFFB-8BC4-33D5-19753D0693C9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F3D510-3F49-F1B9-F577-0BD674FA1E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30188" y="502920"/>
            <a:ext cx="5483624" cy="411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84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2A37D-301C-6394-501C-CE678DE4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3E7CCB-4E1D-D7DA-1A5D-6F452C78CE80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248FEB-A6FD-9743-0B5C-3CFB46C56A38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Monte Carlo FRFs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180154-D5CD-75C4-9DCF-04E590276912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5BB5DD-611A-680D-5083-D873B305426C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DA19075-C69B-B581-BCC3-7581FBAA9708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0CF0C8-B7C8-FB7B-ACFE-B651680C1D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254"/>
          <a:stretch>
            <a:fillRect/>
          </a:stretch>
        </p:blipFill>
        <p:spPr>
          <a:xfrm>
            <a:off x="952500" y="700857"/>
            <a:ext cx="6940550" cy="18553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AE28F8-B574-5E9A-FF0F-67F5346F8C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762"/>
          <a:stretch>
            <a:fillRect/>
          </a:stretch>
        </p:blipFill>
        <p:spPr>
          <a:xfrm>
            <a:off x="952500" y="2587257"/>
            <a:ext cx="7048500" cy="191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33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ECD29-8F20-3A05-3894-205823F0B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B5B4D6-47A8-20EC-8DDC-5A40BE127ED6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1FFAF8-52F8-C074-090C-7E98D1DE9732}"/>
              </a:ext>
            </a:extLst>
          </p:cNvPr>
          <p:cNvSpPr/>
          <p:nvPr/>
        </p:nvSpPr>
        <p:spPr>
          <a:xfrm>
            <a:off x="228600" y="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DF34477-44AA-C8EC-A892-D8BED93931C2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8AE81D-0222-A5C9-5D34-81A6F283F5DA}"/>
              </a:ext>
            </a:extLst>
          </p:cNvPr>
          <p:cNvSpPr/>
          <p:nvPr/>
        </p:nvSpPr>
        <p:spPr>
          <a:xfrm>
            <a:off x="182880" y="47960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· Cavalli · Di Mauro  –  Estimation and Learning in Aerospace project, 25/26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15441C-B90E-068A-6BBC-C0A9347C47FB}"/>
              </a:ext>
            </a:extLst>
          </p:cNvPr>
          <p:cNvSpPr/>
          <p:nvPr/>
        </p:nvSpPr>
        <p:spPr>
          <a:xfrm>
            <a:off x="7406640" y="479602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MILANO 1863</a:t>
            </a:r>
            <a:endParaRPr lang="en-US" sz="9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1C038C1-4AA0-DB0D-153A-4C037D3C3AA0}"/>
              </a:ext>
            </a:extLst>
          </p:cNvPr>
          <p:cNvSpPr/>
          <p:nvPr/>
        </p:nvSpPr>
        <p:spPr>
          <a:xfrm>
            <a:off x="457200" y="1511289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Marco Lovera (Politecnico di Milano): "Estimation and Learning for Aerospace - course slides", </a:t>
            </a:r>
            <a:r>
              <a:rPr lang="en-US" sz="135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a.y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2025-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85909E1-1E1B-284E-67C2-E3A6C09471C7}"/>
              </a:ext>
            </a:extLst>
          </p:cNvPr>
          <p:cNvSpPr/>
          <p:nvPr/>
        </p:nvSpPr>
        <p:spPr>
          <a:xfrm>
            <a:off x="457200" y="302377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B. J. Noppe: "Grey-box modelling of a quadrotor unmanned aerial vehicle using frequency-domain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identification", IEEE 2016</a:t>
            </a:r>
            <a:endParaRPr lang="en-US" sz="13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FD1B925-D8CA-62BB-B2AF-6426F636AF7A}"/>
              </a:ext>
            </a:extLst>
          </p:cNvPr>
          <p:cNvSpPr/>
          <p:nvPr/>
        </p:nvSpPr>
        <p:spPr>
          <a:xfrm>
            <a:off x="457200" y="222945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Wei Yuan &amp; Jay </a:t>
            </a:r>
            <a:r>
              <a:rPr lang="en-US" sz="135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Katupitiya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(UNSW): "A Grey-Box System Identification Procedure for Scale Model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Helicopters based on Frequency-Domain Estimation Methods", ICAS 2012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720694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79935-468C-8F84-643A-E67B69C1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417EE5-FC9D-3367-C000-D76B5FCDEC59}"/>
              </a:ext>
            </a:extLst>
          </p:cNvPr>
          <p:cNvSpPr/>
          <p:nvPr/>
        </p:nvSpPr>
        <p:spPr>
          <a:xfrm>
            <a:off x="0" y="0"/>
            <a:ext cx="9144000" cy="269748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BBFD32-DE51-72FE-7687-1ABE59048DD3}"/>
              </a:ext>
            </a:extLst>
          </p:cNvPr>
          <p:cNvSpPr/>
          <p:nvPr/>
        </p:nvSpPr>
        <p:spPr>
          <a:xfrm>
            <a:off x="0" y="2633472"/>
            <a:ext cx="9144000" cy="64008"/>
          </a:xfrm>
          <a:prstGeom prst="rect">
            <a:avLst/>
          </a:prstGeom>
          <a:solidFill>
            <a:srgbClr val="1A2C55"/>
          </a:solidFill>
          <a:ln w="12700">
            <a:solidFill>
              <a:srgbClr val="1A2C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8E026E-992C-DE8C-DA9F-7C6AFFB6C478}"/>
              </a:ext>
            </a:extLst>
          </p:cNvPr>
          <p:cNvSpPr/>
          <p:nvPr/>
        </p:nvSpPr>
        <p:spPr>
          <a:xfrm>
            <a:off x="0" y="2697480"/>
            <a:ext cx="9144000" cy="24414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9F1314-8EE2-5EA8-D5DB-3AABC6F4086C}"/>
              </a:ext>
            </a:extLst>
          </p:cNvPr>
          <p:cNvSpPr/>
          <p:nvPr/>
        </p:nvSpPr>
        <p:spPr>
          <a:xfrm>
            <a:off x="320040" y="27889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the attention!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15A18D1-75A7-F382-C9F8-BCCC9DE9F4D1}"/>
              </a:ext>
            </a:extLst>
          </p:cNvPr>
          <p:cNvSpPr/>
          <p:nvPr/>
        </p:nvSpPr>
        <p:spPr>
          <a:xfrm>
            <a:off x="320040" y="385876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Boschini Marianna  ·  Cavalli Filippo  ·  Mattia Di Mauro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427A644-CE97-214E-0BE3-6216D2FAE181}"/>
              </a:ext>
            </a:extLst>
          </p:cNvPr>
          <p:cNvSpPr/>
          <p:nvPr/>
        </p:nvSpPr>
        <p:spPr>
          <a:xfrm>
            <a:off x="320040" y="415137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Marco Lovera  </a:t>
            </a:r>
            <a:endParaRPr lang="en-US" sz="12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B636770D-5E7B-41B0-3A4B-D2DC5204C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909" y="258505"/>
            <a:ext cx="2382181" cy="217379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7D461C0-BE82-B019-7DAE-62D51E886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7466428" y="4476608"/>
            <a:ext cx="1559902" cy="46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43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159c0d-ae7f-403d-963d-634799c772f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72B6EEFD359D4F9531299EB4EB8B21" ma:contentTypeVersion="14" ma:contentTypeDescription="Creare un nuovo documento." ma:contentTypeScope="" ma:versionID="18068ab0212c1a6a36177343891f1621">
  <xsd:schema xmlns:xsd="http://www.w3.org/2001/XMLSchema" xmlns:xs="http://www.w3.org/2001/XMLSchema" xmlns:p="http://schemas.microsoft.com/office/2006/metadata/properties" xmlns:ns3="9c159c0d-ae7f-403d-963d-634799c772f2" xmlns:ns4="cb688762-1cd7-443d-99ab-6b47ad033de5" targetNamespace="http://schemas.microsoft.com/office/2006/metadata/properties" ma:root="true" ma:fieldsID="26fc81c52e5e4020739f204696c0411b" ns3:_="" ns4:_="">
    <xsd:import namespace="9c159c0d-ae7f-403d-963d-634799c772f2"/>
    <xsd:import namespace="cb688762-1cd7-443d-99ab-6b47ad033de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159c0d-ae7f-403d-963d-634799c772f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688762-1cd7-443d-99ab-6b47ad033de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5D9FC4-C532-464F-B502-B6EFA830E3E6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9c159c0d-ae7f-403d-963d-634799c772f2"/>
    <ds:schemaRef ds:uri="http://schemas.microsoft.com/office/2006/metadata/properties"/>
    <ds:schemaRef ds:uri="cb688762-1cd7-443d-99ab-6b47ad033de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FB47ED6-8129-4BA7-9AA1-60178E1D54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159c0d-ae7f-403d-963d-634799c772f2"/>
    <ds:schemaRef ds:uri="cb688762-1cd7-443d-99ab-6b47ad033d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AE619A-726E-426E-9315-70DACE851F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3170</Words>
  <Application>Microsoft Office PowerPoint</Application>
  <PresentationFormat>Presentazione su schermo (16:9)</PresentationFormat>
  <Paragraphs>363</Paragraphs>
  <Slides>33</Slides>
  <Notes>33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37" baseType="lpstr">
      <vt:lpstr>Arial</vt:lpstr>
      <vt:lpstr>Calibri</vt:lpstr>
      <vt:lpstr>Cambria Math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Filippo Cavalli</cp:lastModifiedBy>
  <cp:revision>15</cp:revision>
  <cp:lastPrinted>2026-03-11T08:21:11Z</cp:lastPrinted>
  <dcterms:created xsi:type="dcterms:W3CDTF">2026-03-07T15:41:48Z</dcterms:created>
  <dcterms:modified xsi:type="dcterms:W3CDTF">2026-03-16T21:33:59Z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0x010100D072B6EEFD359D4F9531299EB4EB8B21</vt:lpwstr>
  </property>
</Properties>
</file>